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Dynapuff Condensed" panose="020B0604020202020204" charset="0"/>
      <p:regular r:id="rId14"/>
    </p:embeddedFont>
    <p:embeddedFont>
      <p:font typeface="Dynapuff Condensed Bold" panose="020B0604020202020204" charset="0"/>
      <p:regular r:id="rId15"/>
    </p:embeddedFont>
    <p:embeddedFont>
      <p:font typeface="Dynapuff SemiCondensed" panose="020B0604020202020204" charset="0"/>
      <p:regular r:id="rId16"/>
    </p:embeddedFont>
    <p:embeddedFont>
      <p:font typeface="Harmattan" panose="020B0604020202020204" charset="-78"/>
      <p:regular r:id="rId17"/>
    </p:embeddedFont>
    <p:embeddedFont>
      <p:font typeface="Maragsa" panose="020B0604020202020204" charset="0"/>
      <p:regular r:id="rId18"/>
    </p:embeddedFont>
    <p:embeddedFont>
      <p:font typeface="Open Sans Bold" panose="020B0604020202020204" charset="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4" d="100"/>
          <a:sy n="64" d="100"/>
        </p:scale>
        <p:origin x="178" y="9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sv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_rels/slide7.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_rels/slide10.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6.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2.svg"/></Relationships>
</file>

<file path=ppt/slides/_rels/slide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8.svg"/><Relationship Id="rId7"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6.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flipV="1">
            <a:off x="12184892" y="-1028700"/>
            <a:ext cx="6103108" cy="41148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4254823" y="-455023"/>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572605" y="6043612"/>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TextBox 6"/>
          <p:cNvSpPr txBox="1"/>
          <p:nvPr/>
        </p:nvSpPr>
        <p:spPr>
          <a:xfrm>
            <a:off x="3141916" y="5065594"/>
            <a:ext cx="13594844" cy="1956037"/>
          </a:xfrm>
          <a:prstGeom prst="rect">
            <a:avLst/>
          </a:prstGeom>
        </p:spPr>
        <p:txBody>
          <a:bodyPr lIns="0" tIns="0" rIns="0" bIns="0" rtlCol="0" anchor="t">
            <a:spAutoFit/>
          </a:bodyPr>
          <a:lstStyle/>
          <a:p>
            <a:pPr marL="0" lvl="0" indent="0" algn="ctr">
              <a:lnSpc>
                <a:spcPts val="15432"/>
              </a:lnSpc>
              <a:spcBef>
                <a:spcPct val="0"/>
              </a:spcBef>
            </a:pPr>
            <a:r>
              <a:rPr lang="en-US" sz="12860" spc="128">
                <a:solidFill>
                  <a:srgbClr val="000000"/>
                </a:solidFill>
                <a:latin typeface="Dynapuff Condensed"/>
                <a:ea typeface="Dynapuff Condensed"/>
                <a:cs typeface="Dynapuff Condensed"/>
                <a:sym typeface="Dynapuff Condensed"/>
              </a:rPr>
              <a:t>PRESENTATION</a:t>
            </a:r>
          </a:p>
        </p:txBody>
      </p:sp>
      <p:sp>
        <p:nvSpPr>
          <p:cNvPr id="7" name="Freeform 7"/>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H="1">
            <a:off x="14418111" y="6172200"/>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9" name="Freeform 9"/>
          <p:cNvSpPr/>
          <p:nvPr/>
        </p:nvSpPr>
        <p:spPr>
          <a:xfrm>
            <a:off x="8013741" y="7706808"/>
            <a:ext cx="3176539" cy="2056190"/>
          </a:xfrm>
          <a:custGeom>
            <a:avLst/>
            <a:gdLst/>
            <a:ahLst/>
            <a:cxnLst/>
            <a:rect l="l" t="t" r="r" b="b"/>
            <a:pathLst>
              <a:path w="3176539" h="2056190">
                <a:moveTo>
                  <a:pt x="0" y="0"/>
                </a:moveTo>
                <a:lnTo>
                  <a:pt x="3176538" y="0"/>
                </a:lnTo>
                <a:lnTo>
                  <a:pt x="3176538" y="2056190"/>
                </a:lnTo>
                <a:lnTo>
                  <a:pt x="0" y="2056190"/>
                </a:lnTo>
                <a:lnTo>
                  <a:pt x="0" y="0"/>
                </a:lnTo>
                <a:close/>
              </a:path>
            </a:pathLst>
          </a:custGeom>
          <a:blipFill>
            <a:blip r:embed="rId10"/>
            <a:stretch>
              <a:fillRect l="-3099" r="-3099"/>
            </a:stretch>
          </a:blipFill>
        </p:spPr>
      </p:sp>
      <p:sp>
        <p:nvSpPr>
          <p:cNvPr id="10" name="Freeform 10"/>
          <p:cNvSpPr/>
          <p:nvPr/>
        </p:nvSpPr>
        <p:spPr>
          <a:xfrm>
            <a:off x="1757517" y="3659777"/>
            <a:ext cx="3032705" cy="1516353"/>
          </a:xfrm>
          <a:custGeom>
            <a:avLst/>
            <a:gdLst/>
            <a:ahLst/>
            <a:cxnLst/>
            <a:rect l="l" t="t" r="r" b="b"/>
            <a:pathLst>
              <a:path w="3032705" h="1516353">
                <a:moveTo>
                  <a:pt x="0" y="0"/>
                </a:moveTo>
                <a:lnTo>
                  <a:pt x="3032706" y="0"/>
                </a:lnTo>
                <a:lnTo>
                  <a:pt x="3032706" y="1516353"/>
                </a:lnTo>
                <a:lnTo>
                  <a:pt x="0" y="1516353"/>
                </a:lnTo>
                <a:lnTo>
                  <a:pt x="0" y="0"/>
                </a:lnTo>
                <a:close/>
              </a:path>
            </a:pathLst>
          </a:custGeom>
          <a:blipFill>
            <a:blip r:embed="rId11"/>
            <a:stretch>
              <a:fillRect/>
            </a:stretch>
          </a:blipFill>
        </p:spPr>
      </p:sp>
      <p:sp>
        <p:nvSpPr>
          <p:cNvPr id="11" name="TextBox 11"/>
          <p:cNvSpPr txBox="1"/>
          <p:nvPr/>
        </p:nvSpPr>
        <p:spPr>
          <a:xfrm>
            <a:off x="5682506" y="3223272"/>
            <a:ext cx="8513664" cy="1920228"/>
          </a:xfrm>
          <a:prstGeom prst="rect">
            <a:avLst/>
          </a:prstGeom>
        </p:spPr>
        <p:txBody>
          <a:bodyPr lIns="0" tIns="0" rIns="0" bIns="0" rtlCol="0" anchor="t">
            <a:spAutoFit/>
          </a:bodyPr>
          <a:lstStyle/>
          <a:p>
            <a:pPr marL="0" lvl="0" indent="0" algn="ctr">
              <a:lnSpc>
                <a:spcPts val="15172"/>
              </a:lnSpc>
              <a:spcBef>
                <a:spcPct val="0"/>
              </a:spcBef>
            </a:pPr>
            <a:r>
              <a:rPr lang="en-US" sz="12643" spc="379">
                <a:solidFill>
                  <a:srgbClr val="000000"/>
                </a:solidFill>
                <a:latin typeface="Dynapuff Condensed"/>
                <a:ea typeface="Dynapuff Condensed"/>
                <a:cs typeface="Dynapuff Condensed"/>
                <a:sym typeface="Dynapuff Condensed"/>
              </a:rPr>
              <a:t>PROJECT </a:t>
            </a:r>
          </a:p>
        </p:txBody>
      </p:sp>
      <p:sp>
        <p:nvSpPr>
          <p:cNvPr id="12" name="TextBox 12"/>
          <p:cNvSpPr txBox="1"/>
          <p:nvPr/>
        </p:nvSpPr>
        <p:spPr>
          <a:xfrm>
            <a:off x="1541240" y="1097552"/>
            <a:ext cx="16121539" cy="1000125"/>
          </a:xfrm>
          <a:prstGeom prst="rect">
            <a:avLst/>
          </a:prstGeom>
        </p:spPr>
        <p:txBody>
          <a:bodyPr lIns="0" tIns="0" rIns="0" bIns="0" rtlCol="0" anchor="t">
            <a:spAutoFit/>
          </a:bodyPr>
          <a:lstStyle/>
          <a:p>
            <a:pPr algn="ctr">
              <a:lnSpc>
                <a:spcPts val="7800"/>
              </a:lnSpc>
              <a:spcBef>
                <a:spcPct val="0"/>
              </a:spcBef>
            </a:pPr>
            <a:r>
              <a:rPr lang="en-US" sz="6500">
                <a:solidFill>
                  <a:srgbClr val="000000"/>
                </a:solidFill>
                <a:latin typeface="Dynapuff Condensed"/>
                <a:ea typeface="Dynapuff Condensed"/>
                <a:cs typeface="Dynapuff Condensed"/>
                <a:sym typeface="Dynapuff Condensed"/>
              </a:rPr>
              <a:t>ELECTVIZ - ELECTION DATA VISUALIZATION FOR MEDIA</a:t>
            </a:r>
          </a:p>
        </p:txBody>
      </p:sp>
      <p:sp>
        <p:nvSpPr>
          <p:cNvPr id="13" name="TextBox 13"/>
          <p:cNvSpPr txBox="1"/>
          <p:nvPr/>
        </p:nvSpPr>
        <p:spPr>
          <a:xfrm>
            <a:off x="12043267" y="7079755"/>
            <a:ext cx="4863960" cy="947606"/>
          </a:xfrm>
          <a:prstGeom prst="rect">
            <a:avLst/>
          </a:prstGeom>
        </p:spPr>
        <p:txBody>
          <a:bodyPr lIns="0" tIns="0" rIns="0" bIns="0" rtlCol="0" anchor="t">
            <a:spAutoFit/>
          </a:bodyPr>
          <a:lstStyle/>
          <a:p>
            <a:pPr algn="ctr">
              <a:lnSpc>
                <a:spcPts val="7690"/>
              </a:lnSpc>
              <a:spcBef>
                <a:spcPct val="0"/>
              </a:spcBef>
            </a:pPr>
            <a:r>
              <a:rPr lang="en-US" sz="5493" spc="54">
                <a:solidFill>
                  <a:srgbClr val="000000"/>
                </a:solidFill>
                <a:latin typeface="Dynapuff Condensed"/>
                <a:ea typeface="Dynapuff Condensed"/>
                <a:cs typeface="Dynapuff Condensed"/>
                <a:sym typeface="Dynapuff Condensed"/>
              </a:rPr>
              <a:t>GROUP MEMBERS</a:t>
            </a:r>
          </a:p>
        </p:txBody>
      </p:sp>
      <p:sp>
        <p:nvSpPr>
          <p:cNvPr id="14" name="TextBox 14"/>
          <p:cNvSpPr txBox="1"/>
          <p:nvPr/>
        </p:nvSpPr>
        <p:spPr>
          <a:xfrm>
            <a:off x="12043268" y="7944351"/>
            <a:ext cx="4042884" cy="724093"/>
          </a:xfrm>
          <a:prstGeom prst="rect">
            <a:avLst/>
          </a:prstGeom>
        </p:spPr>
        <p:txBody>
          <a:bodyPr wrap="square" lIns="0" tIns="0" rIns="0" bIns="0" rtlCol="0" anchor="t">
            <a:spAutoFit/>
          </a:bodyPr>
          <a:lstStyle/>
          <a:p>
            <a:pPr algn="ctr">
              <a:lnSpc>
                <a:spcPts val="5979"/>
              </a:lnSpc>
              <a:spcBef>
                <a:spcPct val="0"/>
              </a:spcBef>
            </a:pPr>
            <a:r>
              <a:rPr lang="en-US" sz="4270" spc="42" dirty="0">
                <a:solidFill>
                  <a:srgbClr val="000000"/>
                </a:solidFill>
                <a:latin typeface="Dynapuff Condensed"/>
                <a:ea typeface="Dynapuff Condensed"/>
                <a:cs typeface="Dynapuff Condensed"/>
                <a:sym typeface="Dynapuff Condensed"/>
              </a:rPr>
              <a:t>ATUL PARASHAR</a:t>
            </a:r>
          </a:p>
        </p:txBody>
      </p:sp>
      <p:sp>
        <p:nvSpPr>
          <p:cNvPr id="15" name="TextBox 15"/>
          <p:cNvSpPr txBox="1"/>
          <p:nvPr/>
        </p:nvSpPr>
        <p:spPr>
          <a:xfrm>
            <a:off x="11811001" y="8537909"/>
            <a:ext cx="5096228" cy="720391"/>
          </a:xfrm>
          <a:prstGeom prst="rect">
            <a:avLst/>
          </a:prstGeom>
        </p:spPr>
        <p:txBody>
          <a:bodyPr wrap="square" lIns="0" tIns="0" rIns="0" bIns="0" rtlCol="0" anchor="t">
            <a:spAutoFit/>
          </a:bodyPr>
          <a:lstStyle/>
          <a:p>
            <a:pPr algn="ctr">
              <a:lnSpc>
                <a:spcPts val="5968"/>
              </a:lnSpc>
              <a:spcBef>
                <a:spcPct val="0"/>
              </a:spcBef>
            </a:pPr>
            <a:r>
              <a:rPr lang="en-US" sz="4263" spc="42" dirty="0">
                <a:solidFill>
                  <a:srgbClr val="000000"/>
                </a:solidFill>
                <a:latin typeface="Dynapuff Condensed"/>
                <a:ea typeface="Dynapuff Condensed"/>
                <a:cs typeface="Dynapuff Condensed"/>
                <a:sym typeface="Dynapuff Condensed"/>
              </a:rPr>
              <a:t>PRASHANTA UPADHYAY</a:t>
            </a:r>
          </a:p>
        </p:txBody>
      </p:sp>
      <p:sp>
        <p:nvSpPr>
          <p:cNvPr id="16" name="TextBox 16"/>
          <p:cNvSpPr txBox="1"/>
          <p:nvPr/>
        </p:nvSpPr>
        <p:spPr>
          <a:xfrm>
            <a:off x="12849155" y="9164520"/>
            <a:ext cx="2831779" cy="706284"/>
          </a:xfrm>
          <a:prstGeom prst="rect">
            <a:avLst/>
          </a:prstGeom>
        </p:spPr>
        <p:txBody>
          <a:bodyPr wrap="square" lIns="0" tIns="0" rIns="0" bIns="0" rtlCol="0" anchor="t">
            <a:spAutoFit/>
          </a:bodyPr>
          <a:lstStyle/>
          <a:p>
            <a:pPr algn="ctr">
              <a:lnSpc>
                <a:spcPts val="6002"/>
              </a:lnSpc>
              <a:spcBef>
                <a:spcPct val="0"/>
              </a:spcBef>
            </a:pPr>
            <a:r>
              <a:rPr lang="en-US" sz="4287" spc="42" dirty="0">
                <a:solidFill>
                  <a:srgbClr val="000000"/>
                </a:solidFill>
                <a:latin typeface="Dynapuff Condensed"/>
                <a:ea typeface="Dynapuff Condensed"/>
                <a:cs typeface="Dynapuff Condensed"/>
                <a:sym typeface="Dynapuff Condensed"/>
              </a:rPr>
              <a:t>OSHIN PAUL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flipH="1" flipV="1">
            <a:off x="12337292" y="-876300"/>
            <a:ext cx="6103108" cy="41148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407223" y="-302623"/>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26735" y="6747939"/>
            <a:ext cx="6103108" cy="41148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2088210" y="738769"/>
            <a:ext cx="14111580" cy="8809462"/>
          </a:xfrm>
          <a:custGeom>
            <a:avLst/>
            <a:gdLst/>
            <a:ahLst/>
            <a:cxnLst/>
            <a:rect l="l" t="t" r="r" b="b"/>
            <a:pathLst>
              <a:path w="14111580" h="8809462">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4080327" y="2601788"/>
            <a:ext cx="10127345" cy="6203551"/>
          </a:xfrm>
          <a:prstGeom prst="rect">
            <a:avLst/>
          </a:prstGeom>
        </p:spPr>
        <p:txBody>
          <a:bodyPr lIns="0" tIns="0" rIns="0" bIns="0" rtlCol="0" anchor="t">
            <a:spAutoFit/>
          </a:bodyPr>
          <a:lstStyle/>
          <a:p>
            <a:pPr algn="just">
              <a:lnSpc>
                <a:spcPts val="4473"/>
              </a:lnSpc>
            </a:pPr>
            <a:endParaRPr/>
          </a:p>
          <a:p>
            <a:pPr algn="just">
              <a:lnSpc>
                <a:spcPts val="4473"/>
              </a:lnSpc>
            </a:pPr>
            <a:r>
              <a:rPr lang="en-US" sz="3195">
                <a:solidFill>
                  <a:srgbClr val="000000"/>
                </a:solidFill>
                <a:latin typeface="Dynapuff Condensed"/>
                <a:ea typeface="Dynapuff Condensed"/>
                <a:cs typeface="Dynapuff Condensed"/>
                <a:sym typeface="Dynapuff Condensed"/>
              </a:rPr>
              <a:t>This project, “ElecViz Election Data Visualization for Media,” focuses on presenting complex election data through interactive Power BI dashboards.</a:t>
            </a:r>
          </a:p>
          <a:p>
            <a:pPr algn="just">
              <a:lnSpc>
                <a:spcPts val="4473"/>
              </a:lnSpc>
            </a:pPr>
            <a:r>
              <a:rPr lang="en-US" sz="3195">
                <a:solidFill>
                  <a:srgbClr val="000000"/>
                </a:solidFill>
                <a:latin typeface="Dynapuff Condensed"/>
                <a:ea typeface="Dynapuff Condensed"/>
                <a:cs typeface="Dynapuff Condensed"/>
                <a:sym typeface="Dynapuff Condensed"/>
              </a:rPr>
              <a:t> It helps media professionals quickly analyze and compare election results, party performance, and trends across years.</a:t>
            </a:r>
          </a:p>
          <a:p>
            <a:pPr algn="just">
              <a:lnSpc>
                <a:spcPts val="4473"/>
              </a:lnSpc>
            </a:pPr>
            <a:r>
              <a:rPr lang="en-US" sz="3195">
                <a:solidFill>
                  <a:srgbClr val="000000"/>
                </a:solidFill>
                <a:latin typeface="Dynapuff Condensed"/>
                <a:ea typeface="Dynapuff Condensed"/>
                <a:cs typeface="Dynapuff Condensed"/>
                <a:sym typeface="Dynapuff Condensed"/>
              </a:rPr>
              <a:t> By using data from official sources and visual tools like maps and charts, it makes election coverage more accurate, engaging, and data-driven.</a:t>
            </a:r>
          </a:p>
          <a:p>
            <a:pPr algn="just">
              <a:lnSpc>
                <a:spcPts val="4473"/>
              </a:lnSpc>
            </a:pPr>
            <a:endParaRPr lang="en-US" sz="3195">
              <a:solidFill>
                <a:srgbClr val="000000"/>
              </a:solidFill>
              <a:latin typeface="Dynapuff Condensed"/>
              <a:ea typeface="Dynapuff Condensed"/>
              <a:cs typeface="Dynapuff Condensed"/>
              <a:sym typeface="Dynapuff Condensed"/>
            </a:endParaRPr>
          </a:p>
          <a:p>
            <a:pPr algn="just">
              <a:lnSpc>
                <a:spcPts val="4473"/>
              </a:lnSpc>
            </a:pPr>
            <a:endParaRPr lang="en-US" sz="3195">
              <a:solidFill>
                <a:srgbClr val="000000"/>
              </a:solidFill>
              <a:latin typeface="Dynapuff Condensed"/>
              <a:ea typeface="Dynapuff Condensed"/>
              <a:cs typeface="Dynapuff Condensed"/>
              <a:sym typeface="Dynapuff Condensed"/>
            </a:endParaRPr>
          </a:p>
        </p:txBody>
      </p:sp>
      <p:sp>
        <p:nvSpPr>
          <p:cNvPr id="8" name="TextBox 8"/>
          <p:cNvSpPr txBox="1"/>
          <p:nvPr/>
        </p:nvSpPr>
        <p:spPr>
          <a:xfrm>
            <a:off x="4924696" y="1945277"/>
            <a:ext cx="8438608" cy="770785"/>
          </a:xfrm>
          <a:prstGeom prst="rect">
            <a:avLst/>
          </a:prstGeom>
        </p:spPr>
        <p:txBody>
          <a:bodyPr lIns="0" tIns="0" rIns="0" bIns="0" rtlCol="0" anchor="t">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flipH="1" flipV="1">
            <a:off x="12337292" y="-876300"/>
            <a:ext cx="6103108" cy="41148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407223" y="-302623"/>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26735" y="6747939"/>
            <a:ext cx="6103108" cy="41148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637576" y="914901"/>
            <a:ext cx="15012848" cy="9372099"/>
          </a:xfrm>
          <a:custGeom>
            <a:avLst/>
            <a:gdLst/>
            <a:ahLst/>
            <a:cxnLst/>
            <a:rect l="l" t="t" r="r" b="b"/>
            <a:pathLst>
              <a:path w="15012848" h="9372099">
                <a:moveTo>
                  <a:pt x="0" y="0"/>
                </a:moveTo>
                <a:lnTo>
                  <a:pt x="15012848" y="0"/>
                </a:lnTo>
                <a:lnTo>
                  <a:pt x="15012848" y="9372099"/>
                </a:lnTo>
                <a:lnTo>
                  <a:pt x="0" y="937209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4709691" y="2381885"/>
            <a:ext cx="8868618" cy="856615"/>
          </a:xfrm>
          <a:prstGeom prst="rect">
            <a:avLst/>
          </a:prstGeom>
        </p:spPr>
        <p:txBody>
          <a:bodyPr lIns="0" tIns="0" rIns="0" bIns="0" rtlCol="0" anchor="t">
            <a:spAutoFit/>
          </a:bodyPr>
          <a:lstStyle/>
          <a:p>
            <a:pPr marL="0" lvl="0" indent="0" algn="ctr">
              <a:lnSpc>
                <a:spcPts val="6305"/>
              </a:lnSpc>
              <a:spcBef>
                <a:spcPct val="0"/>
              </a:spcBef>
            </a:pPr>
            <a:r>
              <a:rPr lang="en-US" sz="6500">
                <a:solidFill>
                  <a:srgbClr val="000000"/>
                </a:solidFill>
                <a:latin typeface="Dynapuff Condensed"/>
                <a:ea typeface="Dynapuff Condensed"/>
                <a:cs typeface="Dynapuff Condensed"/>
                <a:sym typeface="Dynapuff Condensed"/>
              </a:rPr>
              <a:t>PROBL</a:t>
            </a:r>
            <a:r>
              <a:rPr lang="en-US" sz="6500" u="none">
                <a:solidFill>
                  <a:srgbClr val="000000"/>
                </a:solidFill>
                <a:latin typeface="Dynapuff Condensed"/>
                <a:ea typeface="Dynapuff Condensed"/>
                <a:cs typeface="Dynapuff Condensed"/>
                <a:sym typeface="Dynapuff Condensed"/>
              </a:rPr>
              <a:t>EM STATEMENT</a:t>
            </a:r>
          </a:p>
        </p:txBody>
      </p:sp>
      <p:sp>
        <p:nvSpPr>
          <p:cNvPr id="8" name="TextBox 8"/>
          <p:cNvSpPr txBox="1"/>
          <p:nvPr/>
        </p:nvSpPr>
        <p:spPr>
          <a:xfrm>
            <a:off x="2088210" y="3698544"/>
            <a:ext cx="13520566" cy="4716390"/>
          </a:xfrm>
          <a:prstGeom prst="rect">
            <a:avLst/>
          </a:prstGeom>
        </p:spPr>
        <p:txBody>
          <a:bodyPr lIns="0" tIns="0" rIns="0" bIns="0" rtlCol="0" anchor="t">
            <a:spAutoFit/>
          </a:bodyPr>
          <a:lstStyle/>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Election data in India is vast, unorganized, and scattered across multiple sources such as ECI websites, reports, and public datasets.</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This makes it difficult for media and analysts to compare party performances, voter trends, and candidate details effectively.</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The existing data formats are static and non-interactive, limiting quick insights during live election coverage.</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There is no single integrated platform that provides a visual and comparative analysis of multiple election years.</a:t>
            </a:r>
          </a:p>
          <a:p>
            <a:pPr algn="just">
              <a:lnSpc>
                <a:spcPts val="4128"/>
              </a:lnSpc>
            </a:pPr>
            <a:endParaRPr lang="en-US" sz="3200">
              <a:solidFill>
                <a:srgbClr val="000000"/>
              </a:solidFill>
              <a:latin typeface="Dynapuff SemiCondensed"/>
              <a:ea typeface="Dynapuff SemiCondensed"/>
              <a:cs typeface="Dynapuff SemiCondensed"/>
              <a:sym typeface="Dynapuff Semi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flipH="1" flipV="1">
            <a:off x="12337292" y="-876300"/>
            <a:ext cx="6103108" cy="41148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407223" y="-302623"/>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26735" y="6747939"/>
            <a:ext cx="6103108" cy="41148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2088210" y="738769"/>
            <a:ext cx="14111580" cy="8809462"/>
          </a:xfrm>
          <a:custGeom>
            <a:avLst/>
            <a:gdLst/>
            <a:ahLst/>
            <a:cxnLst/>
            <a:rect l="l" t="t" r="r" b="b"/>
            <a:pathLst>
              <a:path w="14111580" h="8809462">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4709691" y="2381885"/>
            <a:ext cx="8868618" cy="856615"/>
          </a:xfrm>
          <a:prstGeom prst="rect">
            <a:avLst/>
          </a:prstGeom>
        </p:spPr>
        <p:txBody>
          <a:bodyPr lIns="0" tIns="0" rIns="0" bIns="0" rtlCol="0" anchor="t">
            <a:spAutoFit/>
          </a:bodyPr>
          <a:lstStyle/>
          <a:p>
            <a:pPr marL="0" lvl="0" indent="0" algn="ctr">
              <a:lnSpc>
                <a:spcPts val="6305"/>
              </a:lnSpc>
              <a:spcBef>
                <a:spcPct val="0"/>
              </a:spcBef>
            </a:pPr>
            <a:r>
              <a:rPr lang="en-US" sz="6500">
                <a:solidFill>
                  <a:srgbClr val="000000"/>
                </a:solidFill>
                <a:latin typeface="Dynapuff Condensed"/>
                <a:ea typeface="Dynapuff Condensed"/>
                <a:cs typeface="Dynapuff Condensed"/>
                <a:sym typeface="Dynapuff Condensed"/>
              </a:rPr>
              <a:t>OBJ</a:t>
            </a:r>
            <a:r>
              <a:rPr lang="en-US" sz="6500" u="none">
                <a:solidFill>
                  <a:srgbClr val="000000"/>
                </a:solidFill>
                <a:latin typeface="Dynapuff Condensed"/>
                <a:ea typeface="Dynapuff Condensed"/>
                <a:cs typeface="Dynapuff Condensed"/>
                <a:sym typeface="Dynapuff Condensed"/>
              </a:rPr>
              <a:t>ECTIVE</a:t>
            </a:r>
          </a:p>
        </p:txBody>
      </p:sp>
      <p:sp>
        <p:nvSpPr>
          <p:cNvPr id="8" name="TextBox 8"/>
          <p:cNvSpPr txBox="1"/>
          <p:nvPr/>
        </p:nvSpPr>
        <p:spPr>
          <a:xfrm>
            <a:off x="3224516" y="3200400"/>
            <a:ext cx="11838968" cy="5240265"/>
          </a:xfrm>
          <a:prstGeom prst="rect">
            <a:avLst/>
          </a:prstGeom>
        </p:spPr>
        <p:txBody>
          <a:bodyPr lIns="0" tIns="0" rIns="0" bIns="0" rtlCol="0" anchor="t">
            <a:spAutoFit/>
          </a:bodyPr>
          <a:lstStyle/>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To develop an interactive Power BI dashboard for visualizing election data.</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To analyze and compare results across years, parties, and alliances.</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To provide real-time insights on party and candidate performance.</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To integrate multiple data sources into one unified platform.</a:t>
            </a:r>
          </a:p>
          <a:p>
            <a:pPr marL="691044" lvl="1" indent="-345522" algn="just">
              <a:lnSpc>
                <a:spcPts val="4128"/>
              </a:lnSpc>
              <a:buFont typeface="Arial"/>
              <a:buChar char="•"/>
            </a:pPr>
            <a:r>
              <a:rPr lang="en-US" sz="3200">
                <a:solidFill>
                  <a:srgbClr val="000000"/>
                </a:solidFill>
                <a:latin typeface="Dynapuff SemiCondensed"/>
                <a:ea typeface="Dynapuff SemiCondensed"/>
                <a:cs typeface="Dynapuff SemiCondensed"/>
                <a:sym typeface="Dynapuff SemiCondensed"/>
              </a:rPr>
              <a:t>To support data-driven and faster election analysis for media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Freeform 2"/>
          <p:cNvSpPr/>
          <p:nvPr/>
        </p:nvSpPr>
        <p:spPr>
          <a:xfrm flipH="1" flipV="1">
            <a:off x="12337292" y="-876300"/>
            <a:ext cx="6103108" cy="41148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4407223" y="-302623"/>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826735" y="6747939"/>
            <a:ext cx="6103108" cy="4114800"/>
          </a:xfrm>
          <a:custGeom>
            <a:avLst/>
            <a:gdLst/>
            <a:ahLst/>
            <a:cxnLst/>
            <a:rect l="l" t="t" r="r" b="b"/>
            <a:pathLst>
              <a:path w="6103108" h="4114800">
                <a:moveTo>
                  <a:pt x="0" y="0"/>
                </a:moveTo>
                <a:lnTo>
                  <a:pt x="6103108" y="0"/>
                </a:lnTo>
                <a:lnTo>
                  <a:pt x="6103108"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2088210" y="738769"/>
            <a:ext cx="14111580" cy="8809462"/>
          </a:xfrm>
          <a:custGeom>
            <a:avLst/>
            <a:gdLst/>
            <a:ahLst/>
            <a:cxnLst/>
            <a:rect l="l" t="t" r="r" b="b"/>
            <a:pathLst>
              <a:path w="14111580" h="8809462">
                <a:moveTo>
                  <a:pt x="0" y="0"/>
                </a:moveTo>
                <a:lnTo>
                  <a:pt x="14111580" y="0"/>
                </a:lnTo>
                <a:lnTo>
                  <a:pt x="14111580" y="8809462"/>
                </a:lnTo>
                <a:lnTo>
                  <a:pt x="0" y="880946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7" name="TextBox 7"/>
          <p:cNvSpPr txBox="1"/>
          <p:nvPr/>
        </p:nvSpPr>
        <p:spPr>
          <a:xfrm>
            <a:off x="4279877" y="2716108"/>
            <a:ext cx="10127345" cy="6729208"/>
          </a:xfrm>
          <a:prstGeom prst="rect">
            <a:avLst/>
          </a:prstGeom>
        </p:spPr>
        <p:txBody>
          <a:bodyPr lIns="0" tIns="0" rIns="0" bIns="0" rtlCol="0" anchor="t">
            <a:spAutoFit/>
          </a:bodyPr>
          <a:lstStyle/>
          <a:p>
            <a:pPr algn="just">
              <a:lnSpc>
                <a:spcPts val="4473"/>
              </a:lnSpc>
            </a:pPr>
            <a:r>
              <a:rPr lang="en-US" sz="3195">
                <a:solidFill>
                  <a:srgbClr val="000000"/>
                </a:solidFill>
                <a:latin typeface="Dynapuff Condensed"/>
                <a:ea typeface="Dynapuff Condensed"/>
                <a:cs typeface="Dynapuff Condensed"/>
                <a:sym typeface="Dynapuff Condensed"/>
              </a:rPr>
              <a:t>Data Collected From:</a:t>
            </a:r>
          </a:p>
          <a:p>
            <a:pPr algn="just">
              <a:lnSpc>
                <a:spcPts val="4473"/>
              </a:lnSpc>
            </a:pPr>
            <a:r>
              <a:rPr lang="en-US" sz="3195">
                <a:solidFill>
                  <a:srgbClr val="000000"/>
                </a:solidFill>
                <a:latin typeface="Dynapuff Condensed"/>
                <a:ea typeface="Dynapuff Condensed"/>
                <a:cs typeface="Dynapuff Condensed"/>
                <a:sym typeface="Dynapuff Condensed"/>
              </a:rPr>
              <a:t>•Election Commission of India (ECI) – Results for 2014, 2019, 2024</a:t>
            </a:r>
          </a:p>
          <a:p>
            <a:pPr algn="just">
              <a:lnSpc>
                <a:spcPts val="4473"/>
              </a:lnSpc>
            </a:pPr>
            <a:r>
              <a:rPr lang="en-US" sz="3195">
                <a:solidFill>
                  <a:srgbClr val="000000"/>
                </a:solidFill>
                <a:latin typeface="Dynapuff Condensed"/>
                <a:ea typeface="Dynapuff Condensed"/>
                <a:cs typeface="Dynapuff Condensed"/>
                <a:sym typeface="Dynapuff Condensed"/>
              </a:rPr>
              <a:t>•Candidate Affidavits – Assets, Education, Gender</a:t>
            </a:r>
          </a:p>
          <a:p>
            <a:pPr algn="just">
              <a:lnSpc>
                <a:spcPts val="4473"/>
              </a:lnSpc>
            </a:pPr>
            <a:r>
              <a:rPr lang="en-US" sz="3195">
                <a:solidFill>
                  <a:srgbClr val="000000"/>
                </a:solidFill>
                <a:latin typeface="Dynapuff Condensed"/>
                <a:ea typeface="Dynapuff Condensed"/>
                <a:cs typeface="Dynapuff Condensed"/>
                <a:sym typeface="Dynapuff Condensed"/>
              </a:rPr>
              <a:t>•Kaggle - Alliance datasets</a:t>
            </a:r>
          </a:p>
          <a:p>
            <a:pPr algn="just">
              <a:lnSpc>
                <a:spcPts val="4473"/>
              </a:lnSpc>
            </a:pPr>
            <a:endParaRPr lang="en-US" sz="3195">
              <a:solidFill>
                <a:srgbClr val="000000"/>
              </a:solidFill>
              <a:latin typeface="Dynapuff Condensed"/>
              <a:ea typeface="Dynapuff Condensed"/>
              <a:cs typeface="Dynapuff Condensed"/>
              <a:sym typeface="Dynapuff Condensed"/>
            </a:endParaRPr>
          </a:p>
          <a:p>
            <a:pPr algn="ctr">
              <a:lnSpc>
                <a:spcPts val="4473"/>
              </a:lnSpc>
            </a:pPr>
            <a:r>
              <a:rPr lang="en-US" sz="3195" b="1">
                <a:solidFill>
                  <a:srgbClr val="000000"/>
                </a:solidFill>
                <a:latin typeface="Dynapuff Condensed Bold"/>
                <a:ea typeface="Dynapuff Condensed Bold"/>
                <a:cs typeface="Dynapuff Condensed Bold"/>
                <a:sym typeface="Dynapuff Condensed Bold"/>
              </a:rPr>
              <a:t>Cleaning Steps in Power Query</a:t>
            </a:r>
          </a:p>
          <a:p>
            <a:pPr algn="just">
              <a:lnSpc>
                <a:spcPts val="4473"/>
              </a:lnSpc>
            </a:pPr>
            <a:r>
              <a:rPr lang="en-US" sz="3195">
                <a:solidFill>
                  <a:srgbClr val="000000"/>
                </a:solidFill>
                <a:latin typeface="Dynapuff Condensed"/>
                <a:ea typeface="Dynapuff Condensed"/>
                <a:cs typeface="Dynapuff Condensed"/>
                <a:sym typeface="Dynapuff Condensed"/>
              </a:rPr>
              <a:t>•Removed duplicates</a:t>
            </a:r>
          </a:p>
          <a:p>
            <a:pPr algn="just">
              <a:lnSpc>
                <a:spcPts val="4473"/>
              </a:lnSpc>
            </a:pPr>
            <a:r>
              <a:rPr lang="en-US" sz="3195">
                <a:solidFill>
                  <a:srgbClr val="000000"/>
                </a:solidFill>
                <a:latin typeface="Dynapuff Condensed"/>
                <a:ea typeface="Dynapuff Condensed"/>
                <a:cs typeface="Dynapuff Condensed"/>
                <a:sym typeface="Dynapuff Condensed"/>
              </a:rPr>
              <a:t>•Unified party names (e.g., “BJP”, “Bharatiya Janata Party”)</a:t>
            </a:r>
          </a:p>
          <a:p>
            <a:pPr algn="just">
              <a:lnSpc>
                <a:spcPts val="4473"/>
              </a:lnSpc>
            </a:pPr>
            <a:r>
              <a:rPr lang="en-US" sz="3195">
                <a:solidFill>
                  <a:srgbClr val="000000"/>
                </a:solidFill>
                <a:latin typeface="Dynapuff Condensed"/>
                <a:ea typeface="Dynapuff Condensed"/>
                <a:cs typeface="Dynapuff Condensed"/>
                <a:sym typeface="Dynapuff Condensed"/>
              </a:rPr>
              <a:t>•Handled missing values and standardized formats</a:t>
            </a:r>
          </a:p>
          <a:p>
            <a:pPr algn="just">
              <a:lnSpc>
                <a:spcPts val="4473"/>
              </a:lnSpc>
            </a:pPr>
            <a:endParaRPr lang="en-US" sz="3195">
              <a:solidFill>
                <a:srgbClr val="000000"/>
              </a:solidFill>
              <a:latin typeface="Dynapuff Condensed"/>
              <a:ea typeface="Dynapuff Condensed"/>
              <a:cs typeface="Dynapuff Condensed"/>
              <a:sym typeface="Dynapuff Condensed"/>
            </a:endParaRPr>
          </a:p>
          <a:p>
            <a:pPr algn="just">
              <a:lnSpc>
                <a:spcPts val="4473"/>
              </a:lnSpc>
            </a:pPr>
            <a:endParaRPr lang="en-US" sz="3195">
              <a:solidFill>
                <a:srgbClr val="000000"/>
              </a:solidFill>
              <a:latin typeface="Dynapuff Condensed"/>
              <a:ea typeface="Dynapuff Condensed"/>
              <a:cs typeface="Dynapuff Condensed"/>
              <a:sym typeface="Dynapuff Condensed"/>
            </a:endParaRPr>
          </a:p>
        </p:txBody>
      </p:sp>
      <p:sp>
        <p:nvSpPr>
          <p:cNvPr id="8" name="TextBox 8"/>
          <p:cNvSpPr txBox="1"/>
          <p:nvPr/>
        </p:nvSpPr>
        <p:spPr>
          <a:xfrm>
            <a:off x="4924696" y="1945277"/>
            <a:ext cx="8438608" cy="1466132"/>
          </a:xfrm>
          <a:prstGeom prst="rect">
            <a:avLst/>
          </a:prstGeom>
        </p:spPr>
        <p:txBody>
          <a:bodyPr lIns="0" tIns="0" rIns="0" bIns="0" rtlCol="0" anchor="t">
            <a:spAutoFit/>
          </a:bodyPr>
          <a:lstStyle/>
          <a:p>
            <a:pPr algn="ctr">
              <a:lnSpc>
                <a:spcPts val="5521"/>
              </a:lnSpc>
            </a:pPr>
            <a:r>
              <a:rPr lang="en-US" sz="6346" spc="63">
                <a:solidFill>
                  <a:srgbClr val="000000"/>
                </a:solidFill>
                <a:latin typeface="Dynapuff Condensed"/>
                <a:ea typeface="Dynapuff Condensed"/>
                <a:cs typeface="Dynapuff Condensed"/>
                <a:sym typeface="Dynapuff Condensed"/>
              </a:rPr>
              <a:t>DATA SOURCES</a:t>
            </a:r>
          </a:p>
          <a:p>
            <a:pPr algn="ctr">
              <a:lnSpc>
                <a:spcPts val="5521"/>
              </a:lnSpc>
            </a:pPr>
            <a:endParaRPr lang="en-US" sz="6346" spc="63">
              <a:solidFill>
                <a:srgbClr val="000000"/>
              </a:solidFill>
              <a:latin typeface="Dynapuff Condensed"/>
              <a:ea typeface="Dynapuff Condensed"/>
              <a:cs typeface="Dynapuff Condensed"/>
              <a:sym typeface="Dynapuff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B1E1E"/>
        </a:solidFill>
        <a:effectLst/>
      </p:bgPr>
    </p:bg>
    <p:spTree>
      <p:nvGrpSpPr>
        <p:cNvPr id="1" name=""/>
        <p:cNvGrpSpPr/>
        <p:nvPr/>
      </p:nvGrpSpPr>
      <p:grpSpPr>
        <a:xfrm>
          <a:off x="0" y="0"/>
          <a:ext cx="0" cy="0"/>
          <a:chOff x="0" y="0"/>
          <a:chExt cx="0" cy="0"/>
        </a:xfrm>
      </p:grpSpPr>
      <p:grpSp>
        <p:nvGrpSpPr>
          <p:cNvPr id="2" name="Group 2"/>
          <p:cNvGrpSpPr/>
          <p:nvPr/>
        </p:nvGrpSpPr>
        <p:grpSpPr>
          <a:xfrm>
            <a:off x="-3810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CECD4"/>
            </a:solidFill>
            <a:ln w="171450" cap="sq">
              <a:solidFill>
                <a:srgbClr val="DFD0B8"/>
              </a:solidFill>
              <a:prstDash val="solid"/>
              <a:miter/>
            </a:ln>
          </p:spPr>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219968" y="4147376"/>
            <a:ext cx="11869412" cy="950721"/>
            <a:chOff x="0" y="0"/>
            <a:chExt cx="3126100" cy="250396"/>
          </a:xfrm>
        </p:grpSpPr>
        <p:sp>
          <p:nvSpPr>
            <p:cNvPr id="6" name="Freeform 6"/>
            <p:cNvSpPr/>
            <p:nvPr/>
          </p:nvSpPr>
          <p:spPr>
            <a:xfrm>
              <a:off x="0" y="0"/>
              <a:ext cx="3126100" cy="250396"/>
            </a:xfrm>
            <a:custGeom>
              <a:avLst/>
              <a:gdLst/>
              <a:ahLst/>
              <a:cxnLst/>
              <a:rect l="l" t="t" r="r" b="b"/>
              <a:pathLst>
                <a:path w="3126100" h="250396">
                  <a:moveTo>
                    <a:pt x="0" y="0"/>
                  </a:moveTo>
                  <a:lnTo>
                    <a:pt x="3126100" y="0"/>
                  </a:lnTo>
                  <a:lnTo>
                    <a:pt x="3126100" y="250396"/>
                  </a:lnTo>
                  <a:lnTo>
                    <a:pt x="0" y="250396"/>
                  </a:lnTo>
                  <a:close/>
                </a:path>
              </a:pathLst>
            </a:custGeom>
            <a:solidFill>
              <a:srgbClr val="DFD0B8"/>
            </a:solidFill>
            <a:ln cap="sq">
              <a:noFill/>
              <a:prstDash val="solid"/>
              <a:miter/>
            </a:ln>
          </p:spPr>
        </p:sp>
        <p:sp>
          <p:nvSpPr>
            <p:cNvPr id="7" name="TextBox 7"/>
            <p:cNvSpPr txBox="1"/>
            <p:nvPr/>
          </p:nvSpPr>
          <p:spPr>
            <a:xfrm>
              <a:off x="0" y="-38100"/>
              <a:ext cx="3126100" cy="28849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198620" y="6886337"/>
            <a:ext cx="11890760" cy="991584"/>
            <a:chOff x="0" y="0"/>
            <a:chExt cx="3131723" cy="261158"/>
          </a:xfrm>
        </p:grpSpPr>
        <p:sp>
          <p:nvSpPr>
            <p:cNvPr id="9" name="Freeform 9"/>
            <p:cNvSpPr/>
            <p:nvPr/>
          </p:nvSpPr>
          <p:spPr>
            <a:xfrm>
              <a:off x="0" y="0"/>
              <a:ext cx="3131723" cy="261158"/>
            </a:xfrm>
            <a:custGeom>
              <a:avLst/>
              <a:gdLst/>
              <a:ahLst/>
              <a:cxnLst/>
              <a:rect l="l" t="t" r="r" b="b"/>
              <a:pathLst>
                <a:path w="3131723" h="261158">
                  <a:moveTo>
                    <a:pt x="0" y="0"/>
                  </a:moveTo>
                  <a:lnTo>
                    <a:pt x="3131723" y="0"/>
                  </a:lnTo>
                  <a:lnTo>
                    <a:pt x="3131723" y="261158"/>
                  </a:lnTo>
                  <a:lnTo>
                    <a:pt x="0" y="261158"/>
                  </a:lnTo>
                  <a:close/>
                </a:path>
              </a:pathLst>
            </a:custGeom>
            <a:solidFill>
              <a:srgbClr val="DFD0B8"/>
            </a:solidFill>
            <a:ln cap="sq">
              <a:noFill/>
              <a:prstDash val="solid"/>
              <a:miter/>
            </a:ln>
          </p:spPr>
        </p:sp>
        <p:sp>
          <p:nvSpPr>
            <p:cNvPr id="10" name="TextBox 10"/>
            <p:cNvSpPr txBox="1"/>
            <p:nvPr/>
          </p:nvSpPr>
          <p:spPr>
            <a:xfrm>
              <a:off x="0" y="-38100"/>
              <a:ext cx="3131723" cy="29925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219968" y="2947440"/>
            <a:ext cx="11869412" cy="847012"/>
            <a:chOff x="0" y="0"/>
            <a:chExt cx="3126100" cy="223081"/>
          </a:xfrm>
        </p:grpSpPr>
        <p:sp>
          <p:nvSpPr>
            <p:cNvPr id="12" name="Freeform 12"/>
            <p:cNvSpPr/>
            <p:nvPr/>
          </p:nvSpPr>
          <p:spPr>
            <a:xfrm>
              <a:off x="0" y="0"/>
              <a:ext cx="3126100" cy="223081"/>
            </a:xfrm>
            <a:custGeom>
              <a:avLst/>
              <a:gdLst/>
              <a:ahLst/>
              <a:cxnLst/>
              <a:rect l="l" t="t" r="r" b="b"/>
              <a:pathLst>
                <a:path w="3126100" h="223081">
                  <a:moveTo>
                    <a:pt x="0" y="0"/>
                  </a:moveTo>
                  <a:lnTo>
                    <a:pt x="3126100" y="0"/>
                  </a:lnTo>
                  <a:lnTo>
                    <a:pt x="3126100" y="223081"/>
                  </a:lnTo>
                  <a:lnTo>
                    <a:pt x="0" y="223081"/>
                  </a:lnTo>
                  <a:close/>
                </a:path>
              </a:pathLst>
            </a:custGeom>
            <a:solidFill>
              <a:srgbClr val="DFD0B8"/>
            </a:solidFill>
            <a:ln cap="sq">
              <a:noFill/>
              <a:prstDash val="solid"/>
              <a:miter/>
            </a:ln>
          </p:spPr>
        </p:sp>
        <p:sp>
          <p:nvSpPr>
            <p:cNvPr id="13" name="TextBox 13"/>
            <p:cNvSpPr txBox="1"/>
            <p:nvPr/>
          </p:nvSpPr>
          <p:spPr>
            <a:xfrm>
              <a:off x="0" y="-38100"/>
              <a:ext cx="3126100" cy="26118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198620" y="8262176"/>
            <a:ext cx="11890760" cy="996124"/>
            <a:chOff x="0" y="0"/>
            <a:chExt cx="3131723" cy="262354"/>
          </a:xfrm>
        </p:grpSpPr>
        <p:sp>
          <p:nvSpPr>
            <p:cNvPr id="15" name="Freeform 15"/>
            <p:cNvSpPr/>
            <p:nvPr/>
          </p:nvSpPr>
          <p:spPr>
            <a:xfrm>
              <a:off x="0" y="0"/>
              <a:ext cx="3131723" cy="262354"/>
            </a:xfrm>
            <a:custGeom>
              <a:avLst/>
              <a:gdLst/>
              <a:ahLst/>
              <a:cxnLst/>
              <a:rect l="l" t="t" r="r" b="b"/>
              <a:pathLst>
                <a:path w="3131723" h="262354">
                  <a:moveTo>
                    <a:pt x="0" y="0"/>
                  </a:moveTo>
                  <a:lnTo>
                    <a:pt x="3131723" y="0"/>
                  </a:lnTo>
                  <a:lnTo>
                    <a:pt x="3131723" y="262354"/>
                  </a:lnTo>
                  <a:lnTo>
                    <a:pt x="0" y="262354"/>
                  </a:lnTo>
                  <a:close/>
                </a:path>
              </a:pathLst>
            </a:custGeom>
            <a:solidFill>
              <a:srgbClr val="DFD0B8"/>
            </a:solidFill>
            <a:ln cap="sq">
              <a:noFill/>
              <a:prstDash val="solid"/>
              <a:miter/>
            </a:ln>
          </p:spPr>
        </p:sp>
        <p:sp>
          <p:nvSpPr>
            <p:cNvPr id="16" name="TextBox 16"/>
            <p:cNvSpPr txBox="1"/>
            <p:nvPr/>
          </p:nvSpPr>
          <p:spPr>
            <a:xfrm>
              <a:off x="0" y="-38100"/>
              <a:ext cx="3131723" cy="300454"/>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3230643" y="5494829"/>
            <a:ext cx="11869412" cy="939991"/>
            <a:chOff x="0" y="0"/>
            <a:chExt cx="3126100" cy="247570"/>
          </a:xfrm>
        </p:grpSpPr>
        <p:sp>
          <p:nvSpPr>
            <p:cNvPr id="18" name="Freeform 18"/>
            <p:cNvSpPr/>
            <p:nvPr/>
          </p:nvSpPr>
          <p:spPr>
            <a:xfrm>
              <a:off x="0" y="0"/>
              <a:ext cx="3126100" cy="247570"/>
            </a:xfrm>
            <a:custGeom>
              <a:avLst/>
              <a:gdLst/>
              <a:ahLst/>
              <a:cxnLst/>
              <a:rect l="l" t="t" r="r" b="b"/>
              <a:pathLst>
                <a:path w="3126100" h="247570">
                  <a:moveTo>
                    <a:pt x="0" y="0"/>
                  </a:moveTo>
                  <a:lnTo>
                    <a:pt x="3126100" y="0"/>
                  </a:lnTo>
                  <a:lnTo>
                    <a:pt x="3126100" y="247570"/>
                  </a:lnTo>
                  <a:lnTo>
                    <a:pt x="0" y="247570"/>
                  </a:lnTo>
                  <a:close/>
                </a:path>
              </a:pathLst>
            </a:custGeom>
            <a:solidFill>
              <a:srgbClr val="DFD0B8"/>
            </a:solidFill>
            <a:ln cap="sq">
              <a:noFill/>
              <a:prstDash val="solid"/>
              <a:miter/>
            </a:ln>
          </p:spPr>
        </p:sp>
        <p:sp>
          <p:nvSpPr>
            <p:cNvPr id="19" name="TextBox 19"/>
            <p:cNvSpPr txBox="1"/>
            <p:nvPr/>
          </p:nvSpPr>
          <p:spPr>
            <a:xfrm>
              <a:off x="0" y="-38100"/>
              <a:ext cx="3126100" cy="28567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3837094" y="6940193"/>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Educators and students can use it as a learning tool to understand how data visualization works with real political datasets.</a:t>
            </a:r>
          </a:p>
        </p:txBody>
      </p:sp>
      <p:sp>
        <p:nvSpPr>
          <p:cNvPr id="21" name="TextBox 21"/>
          <p:cNvSpPr txBox="1"/>
          <p:nvPr/>
        </p:nvSpPr>
        <p:spPr>
          <a:xfrm>
            <a:off x="3795445" y="4214431"/>
            <a:ext cx="10823106" cy="368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Political analysts can identify performance patterns of parties and alliances.</a:t>
            </a:r>
          </a:p>
        </p:txBody>
      </p:sp>
      <p:sp>
        <p:nvSpPr>
          <p:cNvPr id="22" name="TextBox 22"/>
          <p:cNvSpPr txBox="1"/>
          <p:nvPr/>
        </p:nvSpPr>
        <p:spPr>
          <a:xfrm>
            <a:off x="4489073" y="1128293"/>
            <a:ext cx="9309855" cy="1635138"/>
          </a:xfrm>
          <a:prstGeom prst="rect">
            <a:avLst/>
          </a:prstGeom>
        </p:spPr>
        <p:txBody>
          <a:bodyPr lIns="0" tIns="0" rIns="0" bIns="0" rtlCol="0" anchor="t">
            <a:spAutoFit/>
          </a:bodyPr>
          <a:lstStyle/>
          <a:p>
            <a:pPr algn="ctr">
              <a:lnSpc>
                <a:spcPts val="13299"/>
              </a:lnSpc>
            </a:pPr>
            <a:r>
              <a:rPr lang="en-US" sz="9499">
                <a:solidFill>
                  <a:srgbClr val="230E0E"/>
                </a:solidFill>
                <a:latin typeface="Maragsa"/>
                <a:ea typeface="Maragsa"/>
                <a:cs typeface="Maragsa"/>
                <a:sym typeface="Maragsa"/>
              </a:rPr>
              <a:t>USE CASE</a:t>
            </a:r>
          </a:p>
        </p:txBody>
      </p:sp>
      <p:sp>
        <p:nvSpPr>
          <p:cNvPr id="23" name="TextBox 23"/>
          <p:cNvSpPr txBox="1"/>
          <p:nvPr/>
        </p:nvSpPr>
        <p:spPr>
          <a:xfrm>
            <a:off x="3753796" y="8385588"/>
            <a:ext cx="10906404" cy="701675"/>
          </a:xfrm>
          <a:prstGeom prst="rect">
            <a:avLst/>
          </a:prstGeom>
        </p:spPr>
        <p:txBody>
          <a:bodyPr lIns="0" tIns="0" rIns="0" bIns="0" rtlCol="0" anchor="t">
            <a:spAutoFit/>
          </a:bodyPr>
          <a:lstStyle/>
          <a:p>
            <a:pPr algn="ctr">
              <a:lnSpc>
                <a:spcPts val="2800"/>
              </a:lnSpc>
              <a:spcBef>
                <a:spcPct val="0"/>
              </a:spcBef>
            </a:pPr>
            <a:r>
              <a:rPr lang="en-US" sz="2000" b="1">
                <a:solidFill>
                  <a:srgbClr val="230E0E"/>
                </a:solidFill>
                <a:latin typeface="Open Sans Bold"/>
                <a:ea typeface="Open Sans Bold"/>
                <a:cs typeface="Open Sans Bold"/>
                <a:sym typeface="Open Sans Bold"/>
              </a:rPr>
              <a:t>Decision-makers in political parties can analyze strong and weak regions to plan future strategies.</a:t>
            </a:r>
          </a:p>
        </p:txBody>
      </p:sp>
      <p:sp>
        <p:nvSpPr>
          <p:cNvPr id="24" name="TextBox 24"/>
          <p:cNvSpPr txBox="1"/>
          <p:nvPr/>
        </p:nvSpPr>
        <p:spPr>
          <a:xfrm>
            <a:off x="3332452" y="3131375"/>
            <a:ext cx="11665794" cy="692150"/>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The main use case lies in its ability to convert raw election results into meaningful insights, making it useful for several audiences:</a:t>
            </a:r>
          </a:p>
        </p:txBody>
      </p:sp>
      <p:sp>
        <p:nvSpPr>
          <p:cNvPr id="25" name="TextBox 25"/>
          <p:cNvSpPr txBox="1"/>
          <p:nvPr/>
        </p:nvSpPr>
        <p:spPr>
          <a:xfrm>
            <a:off x="2965221" y="5599700"/>
            <a:ext cx="12011676" cy="339725"/>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Government and research organizations can use the dashboard for statistical evaluation.</a:t>
            </a:r>
          </a:p>
        </p:txBody>
      </p:sp>
      <p:sp>
        <p:nvSpPr>
          <p:cNvPr id="26" name="Freeform 26"/>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Freeform 27"/>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p:cNvSpPr/>
          <p:nvPr/>
        </p:nvSpPr>
        <p:spPr>
          <a:xfrm>
            <a:off x="14427674" y="0"/>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Freeform 30"/>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B1E1E"/>
        </a:solidFill>
        <a:effectLst/>
      </p:bgPr>
    </p:bg>
    <p:spTree>
      <p:nvGrpSpPr>
        <p:cNvPr id="1" name=""/>
        <p:cNvGrpSpPr/>
        <p:nvPr/>
      </p:nvGrpSpPr>
      <p:grpSpPr>
        <a:xfrm>
          <a:off x="0" y="0"/>
          <a:ext cx="0" cy="0"/>
          <a:chOff x="0" y="0"/>
          <a:chExt cx="0" cy="0"/>
        </a:xfrm>
      </p:grpSpPr>
      <p:grpSp>
        <p:nvGrpSpPr>
          <p:cNvPr id="2" name="Group 2"/>
          <p:cNvGrpSpPr/>
          <p:nvPr/>
        </p:nvGrpSpPr>
        <p:grpSpPr>
          <a:xfrm>
            <a:off x="-3810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CECD4"/>
            </a:solidFill>
            <a:ln w="171450" cap="sq">
              <a:solidFill>
                <a:srgbClr val="DFD0B8"/>
              </a:solidFill>
              <a:prstDash val="solid"/>
              <a:miter/>
            </a:ln>
          </p:spPr>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219968" y="4147376"/>
            <a:ext cx="11869412" cy="950721"/>
            <a:chOff x="0" y="0"/>
            <a:chExt cx="3126100" cy="250396"/>
          </a:xfrm>
        </p:grpSpPr>
        <p:sp>
          <p:nvSpPr>
            <p:cNvPr id="6" name="Freeform 6"/>
            <p:cNvSpPr/>
            <p:nvPr/>
          </p:nvSpPr>
          <p:spPr>
            <a:xfrm>
              <a:off x="0" y="0"/>
              <a:ext cx="3126100" cy="250396"/>
            </a:xfrm>
            <a:custGeom>
              <a:avLst/>
              <a:gdLst/>
              <a:ahLst/>
              <a:cxnLst/>
              <a:rect l="l" t="t" r="r" b="b"/>
              <a:pathLst>
                <a:path w="3126100" h="250396">
                  <a:moveTo>
                    <a:pt x="0" y="0"/>
                  </a:moveTo>
                  <a:lnTo>
                    <a:pt x="3126100" y="0"/>
                  </a:lnTo>
                  <a:lnTo>
                    <a:pt x="3126100" y="250396"/>
                  </a:lnTo>
                  <a:lnTo>
                    <a:pt x="0" y="250396"/>
                  </a:lnTo>
                  <a:close/>
                </a:path>
              </a:pathLst>
            </a:custGeom>
            <a:solidFill>
              <a:srgbClr val="DFD0B8"/>
            </a:solidFill>
            <a:ln cap="sq">
              <a:noFill/>
              <a:prstDash val="solid"/>
              <a:miter/>
            </a:ln>
          </p:spPr>
        </p:sp>
        <p:sp>
          <p:nvSpPr>
            <p:cNvPr id="7" name="TextBox 7"/>
            <p:cNvSpPr txBox="1"/>
            <p:nvPr/>
          </p:nvSpPr>
          <p:spPr>
            <a:xfrm>
              <a:off x="0" y="-38100"/>
              <a:ext cx="3126100" cy="28849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198620" y="6886337"/>
            <a:ext cx="11890760" cy="991584"/>
            <a:chOff x="0" y="0"/>
            <a:chExt cx="3131723" cy="261158"/>
          </a:xfrm>
        </p:grpSpPr>
        <p:sp>
          <p:nvSpPr>
            <p:cNvPr id="9" name="Freeform 9"/>
            <p:cNvSpPr/>
            <p:nvPr/>
          </p:nvSpPr>
          <p:spPr>
            <a:xfrm>
              <a:off x="0" y="0"/>
              <a:ext cx="3131723" cy="261158"/>
            </a:xfrm>
            <a:custGeom>
              <a:avLst/>
              <a:gdLst/>
              <a:ahLst/>
              <a:cxnLst/>
              <a:rect l="l" t="t" r="r" b="b"/>
              <a:pathLst>
                <a:path w="3131723" h="261158">
                  <a:moveTo>
                    <a:pt x="0" y="0"/>
                  </a:moveTo>
                  <a:lnTo>
                    <a:pt x="3131723" y="0"/>
                  </a:lnTo>
                  <a:lnTo>
                    <a:pt x="3131723" y="261158"/>
                  </a:lnTo>
                  <a:lnTo>
                    <a:pt x="0" y="261158"/>
                  </a:lnTo>
                  <a:close/>
                </a:path>
              </a:pathLst>
            </a:custGeom>
            <a:solidFill>
              <a:srgbClr val="DFD0B8"/>
            </a:solidFill>
            <a:ln cap="sq">
              <a:noFill/>
              <a:prstDash val="solid"/>
              <a:miter/>
            </a:ln>
          </p:spPr>
        </p:sp>
        <p:sp>
          <p:nvSpPr>
            <p:cNvPr id="10" name="TextBox 10"/>
            <p:cNvSpPr txBox="1"/>
            <p:nvPr/>
          </p:nvSpPr>
          <p:spPr>
            <a:xfrm>
              <a:off x="0" y="-38100"/>
              <a:ext cx="3131723" cy="29925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219968" y="2947440"/>
            <a:ext cx="11869412" cy="847012"/>
            <a:chOff x="0" y="0"/>
            <a:chExt cx="3126100" cy="223081"/>
          </a:xfrm>
        </p:grpSpPr>
        <p:sp>
          <p:nvSpPr>
            <p:cNvPr id="12" name="Freeform 12"/>
            <p:cNvSpPr/>
            <p:nvPr/>
          </p:nvSpPr>
          <p:spPr>
            <a:xfrm>
              <a:off x="0" y="0"/>
              <a:ext cx="3126100" cy="223081"/>
            </a:xfrm>
            <a:custGeom>
              <a:avLst/>
              <a:gdLst/>
              <a:ahLst/>
              <a:cxnLst/>
              <a:rect l="l" t="t" r="r" b="b"/>
              <a:pathLst>
                <a:path w="3126100" h="223081">
                  <a:moveTo>
                    <a:pt x="0" y="0"/>
                  </a:moveTo>
                  <a:lnTo>
                    <a:pt x="3126100" y="0"/>
                  </a:lnTo>
                  <a:lnTo>
                    <a:pt x="3126100" y="223081"/>
                  </a:lnTo>
                  <a:lnTo>
                    <a:pt x="0" y="223081"/>
                  </a:lnTo>
                  <a:close/>
                </a:path>
              </a:pathLst>
            </a:custGeom>
            <a:solidFill>
              <a:srgbClr val="DFD0B8"/>
            </a:solidFill>
            <a:ln cap="sq">
              <a:noFill/>
              <a:prstDash val="solid"/>
              <a:miter/>
            </a:ln>
          </p:spPr>
        </p:sp>
        <p:sp>
          <p:nvSpPr>
            <p:cNvPr id="13" name="TextBox 13"/>
            <p:cNvSpPr txBox="1"/>
            <p:nvPr/>
          </p:nvSpPr>
          <p:spPr>
            <a:xfrm>
              <a:off x="0" y="-38100"/>
              <a:ext cx="3126100" cy="26118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198620" y="8262176"/>
            <a:ext cx="11890760" cy="996124"/>
            <a:chOff x="0" y="0"/>
            <a:chExt cx="3131723" cy="262354"/>
          </a:xfrm>
        </p:grpSpPr>
        <p:sp>
          <p:nvSpPr>
            <p:cNvPr id="15" name="Freeform 15"/>
            <p:cNvSpPr/>
            <p:nvPr/>
          </p:nvSpPr>
          <p:spPr>
            <a:xfrm>
              <a:off x="0" y="0"/>
              <a:ext cx="3131723" cy="262354"/>
            </a:xfrm>
            <a:custGeom>
              <a:avLst/>
              <a:gdLst/>
              <a:ahLst/>
              <a:cxnLst/>
              <a:rect l="l" t="t" r="r" b="b"/>
              <a:pathLst>
                <a:path w="3131723" h="262354">
                  <a:moveTo>
                    <a:pt x="0" y="0"/>
                  </a:moveTo>
                  <a:lnTo>
                    <a:pt x="3131723" y="0"/>
                  </a:lnTo>
                  <a:lnTo>
                    <a:pt x="3131723" y="262354"/>
                  </a:lnTo>
                  <a:lnTo>
                    <a:pt x="0" y="262354"/>
                  </a:lnTo>
                  <a:close/>
                </a:path>
              </a:pathLst>
            </a:custGeom>
            <a:solidFill>
              <a:srgbClr val="DFD0B8"/>
            </a:solidFill>
            <a:ln cap="sq">
              <a:noFill/>
              <a:prstDash val="solid"/>
              <a:miter/>
            </a:ln>
          </p:spPr>
        </p:sp>
        <p:sp>
          <p:nvSpPr>
            <p:cNvPr id="16" name="TextBox 16"/>
            <p:cNvSpPr txBox="1"/>
            <p:nvPr/>
          </p:nvSpPr>
          <p:spPr>
            <a:xfrm>
              <a:off x="0" y="-38100"/>
              <a:ext cx="3131723" cy="300454"/>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3230643" y="5494829"/>
            <a:ext cx="11869412" cy="939991"/>
            <a:chOff x="0" y="0"/>
            <a:chExt cx="3126100" cy="247570"/>
          </a:xfrm>
        </p:grpSpPr>
        <p:sp>
          <p:nvSpPr>
            <p:cNvPr id="18" name="Freeform 18"/>
            <p:cNvSpPr/>
            <p:nvPr/>
          </p:nvSpPr>
          <p:spPr>
            <a:xfrm>
              <a:off x="0" y="0"/>
              <a:ext cx="3126100" cy="247570"/>
            </a:xfrm>
            <a:custGeom>
              <a:avLst/>
              <a:gdLst/>
              <a:ahLst/>
              <a:cxnLst/>
              <a:rect l="l" t="t" r="r" b="b"/>
              <a:pathLst>
                <a:path w="3126100" h="247570">
                  <a:moveTo>
                    <a:pt x="0" y="0"/>
                  </a:moveTo>
                  <a:lnTo>
                    <a:pt x="3126100" y="0"/>
                  </a:lnTo>
                  <a:lnTo>
                    <a:pt x="3126100" y="247570"/>
                  </a:lnTo>
                  <a:lnTo>
                    <a:pt x="0" y="247570"/>
                  </a:lnTo>
                  <a:close/>
                </a:path>
              </a:pathLst>
            </a:custGeom>
            <a:solidFill>
              <a:srgbClr val="DFD0B8"/>
            </a:solidFill>
            <a:ln cap="sq">
              <a:noFill/>
              <a:prstDash val="solid"/>
              <a:miter/>
            </a:ln>
          </p:spPr>
        </p:sp>
        <p:sp>
          <p:nvSpPr>
            <p:cNvPr id="19" name="TextBox 19"/>
            <p:cNvSpPr txBox="1"/>
            <p:nvPr/>
          </p:nvSpPr>
          <p:spPr>
            <a:xfrm>
              <a:off x="0" y="-38100"/>
              <a:ext cx="3126100" cy="28567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3837094" y="6940193"/>
            <a:ext cx="10823106" cy="368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Performance issues while loading and refreshing large datasets in Power BI.</a:t>
            </a:r>
          </a:p>
        </p:txBody>
      </p:sp>
      <p:sp>
        <p:nvSpPr>
          <p:cNvPr id="21" name="TextBox 21"/>
          <p:cNvSpPr txBox="1"/>
          <p:nvPr/>
        </p:nvSpPr>
        <p:spPr>
          <a:xfrm>
            <a:off x="3795445" y="4214431"/>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Data inconsistency — duplicate entries, missing values, and mismatched party names.</a:t>
            </a:r>
          </a:p>
        </p:txBody>
      </p:sp>
      <p:sp>
        <p:nvSpPr>
          <p:cNvPr id="22" name="TextBox 22"/>
          <p:cNvSpPr txBox="1"/>
          <p:nvPr/>
        </p:nvSpPr>
        <p:spPr>
          <a:xfrm>
            <a:off x="4489073" y="1128293"/>
            <a:ext cx="9309855" cy="3321063"/>
          </a:xfrm>
          <a:prstGeom prst="rect">
            <a:avLst/>
          </a:prstGeom>
        </p:spPr>
        <p:txBody>
          <a:bodyPr lIns="0" tIns="0" rIns="0" bIns="0" rtlCol="0" anchor="t">
            <a:spAutoFit/>
          </a:bodyPr>
          <a:lstStyle/>
          <a:p>
            <a:pPr algn="ctr">
              <a:lnSpc>
                <a:spcPts val="13299"/>
              </a:lnSpc>
            </a:pPr>
            <a:r>
              <a:rPr lang="en-US" sz="9499">
                <a:solidFill>
                  <a:srgbClr val="230E0E"/>
                </a:solidFill>
                <a:latin typeface="Maragsa"/>
                <a:ea typeface="Maragsa"/>
                <a:cs typeface="Maragsa"/>
                <a:sym typeface="Maragsa"/>
              </a:rPr>
              <a:t>CHALLENGES</a:t>
            </a:r>
          </a:p>
          <a:p>
            <a:pPr algn="ctr">
              <a:lnSpc>
                <a:spcPts val="13299"/>
              </a:lnSpc>
            </a:pPr>
            <a:endParaRPr lang="en-US" sz="9499">
              <a:solidFill>
                <a:srgbClr val="230E0E"/>
              </a:solidFill>
              <a:latin typeface="Maragsa"/>
              <a:ea typeface="Maragsa"/>
              <a:cs typeface="Maragsa"/>
              <a:sym typeface="Maragsa"/>
            </a:endParaRPr>
          </a:p>
        </p:txBody>
      </p:sp>
      <p:sp>
        <p:nvSpPr>
          <p:cNvPr id="23" name="TextBox 23"/>
          <p:cNvSpPr txBox="1"/>
          <p:nvPr/>
        </p:nvSpPr>
        <p:spPr>
          <a:xfrm>
            <a:off x="3753796" y="8385588"/>
            <a:ext cx="10906404" cy="349250"/>
          </a:xfrm>
          <a:prstGeom prst="rect">
            <a:avLst/>
          </a:prstGeom>
        </p:spPr>
        <p:txBody>
          <a:bodyPr lIns="0" tIns="0" rIns="0" bIns="0" rtlCol="0" anchor="t">
            <a:spAutoFit/>
          </a:bodyPr>
          <a:lstStyle/>
          <a:p>
            <a:pPr algn="ctr">
              <a:lnSpc>
                <a:spcPts val="2800"/>
              </a:lnSpc>
              <a:spcBef>
                <a:spcPct val="0"/>
              </a:spcBef>
            </a:pPr>
            <a:r>
              <a:rPr lang="en-US" sz="2000" b="1">
                <a:solidFill>
                  <a:srgbClr val="230E0E"/>
                </a:solidFill>
                <a:latin typeface="Open Sans Bold"/>
                <a:ea typeface="Open Sans Bold"/>
                <a:cs typeface="Open Sans Bold"/>
                <a:sym typeface="Open Sans Bold"/>
              </a:rPr>
              <a:t>Designing interactive dashboards that are both informative and easy to interpret.</a:t>
            </a:r>
          </a:p>
        </p:txBody>
      </p:sp>
      <p:sp>
        <p:nvSpPr>
          <p:cNvPr id="24" name="TextBox 24"/>
          <p:cNvSpPr txBox="1"/>
          <p:nvPr/>
        </p:nvSpPr>
        <p:spPr>
          <a:xfrm>
            <a:off x="3332452" y="3131375"/>
            <a:ext cx="11665794" cy="339725"/>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Handling large and unstructured datasets from multiple sources.</a:t>
            </a:r>
          </a:p>
        </p:txBody>
      </p:sp>
      <p:sp>
        <p:nvSpPr>
          <p:cNvPr id="25" name="TextBox 25"/>
          <p:cNvSpPr txBox="1"/>
          <p:nvPr/>
        </p:nvSpPr>
        <p:spPr>
          <a:xfrm>
            <a:off x="2965221" y="5599700"/>
            <a:ext cx="12011676" cy="339725"/>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Integrating multiple data types like results, candidate info, and alliances into one model.</a:t>
            </a:r>
          </a:p>
        </p:txBody>
      </p:sp>
      <p:sp>
        <p:nvSpPr>
          <p:cNvPr id="26" name="Freeform 26"/>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Freeform 27"/>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p:cNvSpPr/>
          <p:nvPr/>
        </p:nvSpPr>
        <p:spPr>
          <a:xfrm>
            <a:off x="14427674" y="0"/>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Freeform 30"/>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B1E1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CECD4"/>
            </a:solidFill>
            <a:ln w="171450" cap="sq">
              <a:solidFill>
                <a:srgbClr val="DFD0B8"/>
              </a:solidFill>
              <a:prstDash val="solid"/>
              <a:miter/>
            </a:ln>
          </p:spPr>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219968" y="4147376"/>
            <a:ext cx="11869412" cy="950721"/>
            <a:chOff x="0" y="0"/>
            <a:chExt cx="3126100" cy="250396"/>
          </a:xfrm>
        </p:grpSpPr>
        <p:sp>
          <p:nvSpPr>
            <p:cNvPr id="6" name="Freeform 6"/>
            <p:cNvSpPr/>
            <p:nvPr/>
          </p:nvSpPr>
          <p:spPr>
            <a:xfrm>
              <a:off x="0" y="0"/>
              <a:ext cx="3126100" cy="250396"/>
            </a:xfrm>
            <a:custGeom>
              <a:avLst/>
              <a:gdLst/>
              <a:ahLst/>
              <a:cxnLst/>
              <a:rect l="l" t="t" r="r" b="b"/>
              <a:pathLst>
                <a:path w="3126100" h="250396">
                  <a:moveTo>
                    <a:pt x="0" y="0"/>
                  </a:moveTo>
                  <a:lnTo>
                    <a:pt x="3126100" y="0"/>
                  </a:lnTo>
                  <a:lnTo>
                    <a:pt x="3126100" y="250396"/>
                  </a:lnTo>
                  <a:lnTo>
                    <a:pt x="0" y="250396"/>
                  </a:lnTo>
                  <a:close/>
                </a:path>
              </a:pathLst>
            </a:custGeom>
            <a:solidFill>
              <a:srgbClr val="DFD0B8"/>
            </a:solidFill>
            <a:ln cap="sq">
              <a:noFill/>
              <a:prstDash val="solid"/>
              <a:miter/>
            </a:ln>
          </p:spPr>
        </p:sp>
        <p:sp>
          <p:nvSpPr>
            <p:cNvPr id="7" name="TextBox 7"/>
            <p:cNvSpPr txBox="1"/>
            <p:nvPr/>
          </p:nvSpPr>
          <p:spPr>
            <a:xfrm>
              <a:off x="0" y="-38100"/>
              <a:ext cx="3126100" cy="28849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198620" y="6886337"/>
            <a:ext cx="11890760" cy="991584"/>
            <a:chOff x="0" y="0"/>
            <a:chExt cx="3131723" cy="261158"/>
          </a:xfrm>
        </p:grpSpPr>
        <p:sp>
          <p:nvSpPr>
            <p:cNvPr id="9" name="Freeform 9"/>
            <p:cNvSpPr/>
            <p:nvPr/>
          </p:nvSpPr>
          <p:spPr>
            <a:xfrm>
              <a:off x="0" y="0"/>
              <a:ext cx="3131723" cy="261158"/>
            </a:xfrm>
            <a:custGeom>
              <a:avLst/>
              <a:gdLst/>
              <a:ahLst/>
              <a:cxnLst/>
              <a:rect l="l" t="t" r="r" b="b"/>
              <a:pathLst>
                <a:path w="3131723" h="261158">
                  <a:moveTo>
                    <a:pt x="0" y="0"/>
                  </a:moveTo>
                  <a:lnTo>
                    <a:pt x="3131723" y="0"/>
                  </a:lnTo>
                  <a:lnTo>
                    <a:pt x="3131723" y="261158"/>
                  </a:lnTo>
                  <a:lnTo>
                    <a:pt x="0" y="261158"/>
                  </a:lnTo>
                  <a:close/>
                </a:path>
              </a:pathLst>
            </a:custGeom>
            <a:solidFill>
              <a:srgbClr val="DFD0B8"/>
            </a:solidFill>
            <a:ln cap="sq">
              <a:noFill/>
              <a:prstDash val="solid"/>
              <a:miter/>
            </a:ln>
          </p:spPr>
        </p:sp>
        <p:sp>
          <p:nvSpPr>
            <p:cNvPr id="10" name="TextBox 10"/>
            <p:cNvSpPr txBox="1"/>
            <p:nvPr/>
          </p:nvSpPr>
          <p:spPr>
            <a:xfrm>
              <a:off x="0" y="-38100"/>
              <a:ext cx="3131723" cy="29925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219968" y="2947440"/>
            <a:ext cx="11869412" cy="847012"/>
            <a:chOff x="0" y="0"/>
            <a:chExt cx="3126100" cy="223081"/>
          </a:xfrm>
        </p:grpSpPr>
        <p:sp>
          <p:nvSpPr>
            <p:cNvPr id="12" name="Freeform 12"/>
            <p:cNvSpPr/>
            <p:nvPr/>
          </p:nvSpPr>
          <p:spPr>
            <a:xfrm>
              <a:off x="0" y="0"/>
              <a:ext cx="3126100" cy="223081"/>
            </a:xfrm>
            <a:custGeom>
              <a:avLst/>
              <a:gdLst/>
              <a:ahLst/>
              <a:cxnLst/>
              <a:rect l="l" t="t" r="r" b="b"/>
              <a:pathLst>
                <a:path w="3126100" h="223081">
                  <a:moveTo>
                    <a:pt x="0" y="0"/>
                  </a:moveTo>
                  <a:lnTo>
                    <a:pt x="3126100" y="0"/>
                  </a:lnTo>
                  <a:lnTo>
                    <a:pt x="3126100" y="223081"/>
                  </a:lnTo>
                  <a:lnTo>
                    <a:pt x="0" y="223081"/>
                  </a:lnTo>
                  <a:close/>
                </a:path>
              </a:pathLst>
            </a:custGeom>
            <a:solidFill>
              <a:srgbClr val="DFD0B8"/>
            </a:solidFill>
            <a:ln cap="sq">
              <a:noFill/>
              <a:prstDash val="solid"/>
              <a:miter/>
            </a:ln>
          </p:spPr>
        </p:sp>
        <p:sp>
          <p:nvSpPr>
            <p:cNvPr id="13" name="TextBox 13"/>
            <p:cNvSpPr txBox="1"/>
            <p:nvPr/>
          </p:nvSpPr>
          <p:spPr>
            <a:xfrm>
              <a:off x="0" y="-38100"/>
              <a:ext cx="3126100" cy="26118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198620" y="8262176"/>
            <a:ext cx="11890760" cy="996124"/>
            <a:chOff x="0" y="0"/>
            <a:chExt cx="3131723" cy="262354"/>
          </a:xfrm>
        </p:grpSpPr>
        <p:sp>
          <p:nvSpPr>
            <p:cNvPr id="15" name="Freeform 15"/>
            <p:cNvSpPr/>
            <p:nvPr/>
          </p:nvSpPr>
          <p:spPr>
            <a:xfrm>
              <a:off x="0" y="0"/>
              <a:ext cx="3131723" cy="262354"/>
            </a:xfrm>
            <a:custGeom>
              <a:avLst/>
              <a:gdLst/>
              <a:ahLst/>
              <a:cxnLst/>
              <a:rect l="l" t="t" r="r" b="b"/>
              <a:pathLst>
                <a:path w="3131723" h="262354">
                  <a:moveTo>
                    <a:pt x="0" y="0"/>
                  </a:moveTo>
                  <a:lnTo>
                    <a:pt x="3131723" y="0"/>
                  </a:lnTo>
                  <a:lnTo>
                    <a:pt x="3131723" y="262354"/>
                  </a:lnTo>
                  <a:lnTo>
                    <a:pt x="0" y="262354"/>
                  </a:lnTo>
                  <a:close/>
                </a:path>
              </a:pathLst>
            </a:custGeom>
            <a:solidFill>
              <a:srgbClr val="DFD0B8"/>
            </a:solidFill>
            <a:ln cap="sq">
              <a:noFill/>
              <a:prstDash val="solid"/>
              <a:miter/>
            </a:ln>
          </p:spPr>
        </p:sp>
        <p:sp>
          <p:nvSpPr>
            <p:cNvPr id="16" name="TextBox 16"/>
            <p:cNvSpPr txBox="1"/>
            <p:nvPr/>
          </p:nvSpPr>
          <p:spPr>
            <a:xfrm>
              <a:off x="0" y="-38100"/>
              <a:ext cx="3131723" cy="300454"/>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3230643" y="5494829"/>
            <a:ext cx="11869412" cy="939991"/>
            <a:chOff x="0" y="0"/>
            <a:chExt cx="3126100" cy="247570"/>
          </a:xfrm>
        </p:grpSpPr>
        <p:sp>
          <p:nvSpPr>
            <p:cNvPr id="18" name="Freeform 18"/>
            <p:cNvSpPr/>
            <p:nvPr/>
          </p:nvSpPr>
          <p:spPr>
            <a:xfrm>
              <a:off x="0" y="0"/>
              <a:ext cx="3126100" cy="247570"/>
            </a:xfrm>
            <a:custGeom>
              <a:avLst/>
              <a:gdLst/>
              <a:ahLst/>
              <a:cxnLst/>
              <a:rect l="l" t="t" r="r" b="b"/>
              <a:pathLst>
                <a:path w="3126100" h="247570">
                  <a:moveTo>
                    <a:pt x="0" y="0"/>
                  </a:moveTo>
                  <a:lnTo>
                    <a:pt x="3126100" y="0"/>
                  </a:lnTo>
                  <a:lnTo>
                    <a:pt x="3126100" y="247570"/>
                  </a:lnTo>
                  <a:lnTo>
                    <a:pt x="0" y="247570"/>
                  </a:lnTo>
                  <a:close/>
                </a:path>
              </a:pathLst>
            </a:custGeom>
            <a:solidFill>
              <a:srgbClr val="DFD0B8"/>
            </a:solidFill>
            <a:ln cap="sq">
              <a:noFill/>
              <a:prstDash val="solid"/>
              <a:miter/>
            </a:ln>
          </p:spPr>
        </p:sp>
        <p:sp>
          <p:nvSpPr>
            <p:cNvPr id="19" name="TextBox 19"/>
            <p:cNvSpPr txBox="1"/>
            <p:nvPr/>
          </p:nvSpPr>
          <p:spPr>
            <a:xfrm>
              <a:off x="0" y="-38100"/>
              <a:ext cx="3126100" cy="28567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3837094" y="6940193"/>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Enhances Media Coverage: Helps journalists and analysts present accurate, data-driven insights during election reporting.</a:t>
            </a:r>
          </a:p>
        </p:txBody>
      </p:sp>
      <p:sp>
        <p:nvSpPr>
          <p:cNvPr id="21" name="TextBox 21"/>
          <p:cNvSpPr txBox="1"/>
          <p:nvPr/>
        </p:nvSpPr>
        <p:spPr>
          <a:xfrm>
            <a:off x="3795445" y="4214431"/>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Simplifies Election Analysis: Converts large, complex election data into clear, visual dashboards for quick understanding.</a:t>
            </a:r>
          </a:p>
        </p:txBody>
      </p:sp>
      <p:sp>
        <p:nvSpPr>
          <p:cNvPr id="22" name="TextBox 22"/>
          <p:cNvSpPr txBox="1"/>
          <p:nvPr/>
        </p:nvSpPr>
        <p:spPr>
          <a:xfrm>
            <a:off x="4489073" y="1128293"/>
            <a:ext cx="9309855" cy="1635138"/>
          </a:xfrm>
          <a:prstGeom prst="rect">
            <a:avLst/>
          </a:prstGeom>
        </p:spPr>
        <p:txBody>
          <a:bodyPr lIns="0" tIns="0" rIns="0" bIns="0" rtlCol="0" anchor="t">
            <a:spAutoFit/>
          </a:bodyPr>
          <a:lstStyle/>
          <a:p>
            <a:pPr algn="ctr">
              <a:lnSpc>
                <a:spcPts val="13299"/>
              </a:lnSpc>
            </a:pPr>
            <a:r>
              <a:rPr lang="en-US" sz="9499">
                <a:solidFill>
                  <a:srgbClr val="230E0E"/>
                </a:solidFill>
                <a:latin typeface="Maragsa"/>
                <a:ea typeface="Maragsa"/>
                <a:cs typeface="Maragsa"/>
                <a:sym typeface="Maragsa"/>
              </a:rPr>
              <a:t>PROJECT IMPACT</a:t>
            </a:r>
          </a:p>
        </p:txBody>
      </p:sp>
      <p:sp>
        <p:nvSpPr>
          <p:cNvPr id="23" name="TextBox 23"/>
          <p:cNvSpPr txBox="1"/>
          <p:nvPr/>
        </p:nvSpPr>
        <p:spPr>
          <a:xfrm>
            <a:off x="3753796" y="8385588"/>
            <a:ext cx="10906404" cy="701675"/>
          </a:xfrm>
          <a:prstGeom prst="rect">
            <a:avLst/>
          </a:prstGeom>
        </p:spPr>
        <p:txBody>
          <a:bodyPr lIns="0" tIns="0" rIns="0" bIns="0" rtlCol="0" anchor="t">
            <a:spAutoFit/>
          </a:bodyPr>
          <a:lstStyle/>
          <a:p>
            <a:pPr algn="ctr">
              <a:lnSpc>
                <a:spcPts val="2800"/>
              </a:lnSpc>
              <a:spcBef>
                <a:spcPct val="0"/>
              </a:spcBef>
            </a:pPr>
            <a:r>
              <a:rPr lang="en-US" sz="2000" b="1">
                <a:solidFill>
                  <a:srgbClr val="230E0E"/>
                </a:solidFill>
                <a:latin typeface="Open Sans Bold"/>
                <a:ea typeface="Open Sans Bold"/>
                <a:cs typeface="Open Sans Bold"/>
                <a:sym typeface="Open Sans Bold"/>
              </a:rPr>
              <a:t>Improves Decision-Making: Enables faster comparison of parties, alliances, and trends across multiple election years.</a:t>
            </a:r>
          </a:p>
        </p:txBody>
      </p:sp>
      <p:sp>
        <p:nvSpPr>
          <p:cNvPr id="24" name="TextBox 24"/>
          <p:cNvSpPr txBox="1"/>
          <p:nvPr/>
        </p:nvSpPr>
        <p:spPr>
          <a:xfrm>
            <a:off x="3311103" y="2986413"/>
            <a:ext cx="11665794" cy="692150"/>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Promotes Transparency: Makes political and voter data easily accessible and understandable for the public.</a:t>
            </a:r>
          </a:p>
        </p:txBody>
      </p:sp>
      <p:sp>
        <p:nvSpPr>
          <p:cNvPr id="25" name="TextBox 25"/>
          <p:cNvSpPr txBox="1"/>
          <p:nvPr/>
        </p:nvSpPr>
        <p:spPr>
          <a:xfrm>
            <a:off x="2965221" y="5599700"/>
            <a:ext cx="12011676" cy="692150"/>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Supports Research &amp; Governance: Provides a valuable tool for policy studies, electoral analysis, and academic research.</a:t>
            </a:r>
          </a:p>
        </p:txBody>
      </p:sp>
      <p:sp>
        <p:nvSpPr>
          <p:cNvPr id="26" name="Freeform 26"/>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7" name="Freeform 27"/>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8" name="Freeform 28"/>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9" name="Freeform 29"/>
          <p:cNvSpPr/>
          <p:nvPr/>
        </p:nvSpPr>
        <p:spPr>
          <a:xfrm>
            <a:off x="14427674" y="0"/>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0" name="Freeform 30"/>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7B1E1E"/>
        </a:solidFill>
        <a:effectLst/>
      </p:bgPr>
    </p:bg>
    <p:spTree>
      <p:nvGrpSpPr>
        <p:cNvPr id="1" name=""/>
        <p:cNvGrpSpPr/>
        <p:nvPr/>
      </p:nvGrpSpPr>
      <p:grpSpPr>
        <a:xfrm>
          <a:off x="0" y="0"/>
          <a:ext cx="0" cy="0"/>
          <a:chOff x="0" y="0"/>
          <a:chExt cx="0" cy="0"/>
        </a:xfrm>
      </p:grpSpPr>
      <p:grpSp>
        <p:nvGrpSpPr>
          <p:cNvPr id="2" name="Group 2"/>
          <p:cNvGrpSpPr/>
          <p:nvPr/>
        </p:nvGrpSpPr>
        <p:grpSpPr>
          <a:xfrm>
            <a:off x="-3810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CECD4"/>
            </a:solidFill>
            <a:ln w="171450" cap="sq">
              <a:solidFill>
                <a:srgbClr val="DFD0B8"/>
              </a:solidFill>
              <a:prstDash val="solid"/>
              <a:miter/>
            </a:ln>
          </p:spPr>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219968" y="4147376"/>
            <a:ext cx="11869412" cy="950721"/>
            <a:chOff x="0" y="0"/>
            <a:chExt cx="3126100" cy="250396"/>
          </a:xfrm>
        </p:grpSpPr>
        <p:sp>
          <p:nvSpPr>
            <p:cNvPr id="6" name="Freeform 6"/>
            <p:cNvSpPr/>
            <p:nvPr/>
          </p:nvSpPr>
          <p:spPr>
            <a:xfrm>
              <a:off x="0" y="0"/>
              <a:ext cx="3126100" cy="250396"/>
            </a:xfrm>
            <a:custGeom>
              <a:avLst/>
              <a:gdLst/>
              <a:ahLst/>
              <a:cxnLst/>
              <a:rect l="l" t="t" r="r" b="b"/>
              <a:pathLst>
                <a:path w="3126100" h="250396">
                  <a:moveTo>
                    <a:pt x="0" y="0"/>
                  </a:moveTo>
                  <a:lnTo>
                    <a:pt x="3126100" y="0"/>
                  </a:lnTo>
                  <a:lnTo>
                    <a:pt x="3126100" y="250396"/>
                  </a:lnTo>
                  <a:lnTo>
                    <a:pt x="0" y="250396"/>
                  </a:lnTo>
                  <a:close/>
                </a:path>
              </a:pathLst>
            </a:custGeom>
            <a:solidFill>
              <a:srgbClr val="DFD0B8"/>
            </a:solidFill>
            <a:ln cap="sq">
              <a:noFill/>
              <a:prstDash val="solid"/>
              <a:miter/>
            </a:ln>
          </p:spPr>
        </p:sp>
        <p:sp>
          <p:nvSpPr>
            <p:cNvPr id="7" name="TextBox 7"/>
            <p:cNvSpPr txBox="1"/>
            <p:nvPr/>
          </p:nvSpPr>
          <p:spPr>
            <a:xfrm>
              <a:off x="0" y="-38100"/>
              <a:ext cx="3126100" cy="288496"/>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198620" y="6886337"/>
            <a:ext cx="11890760" cy="991584"/>
            <a:chOff x="0" y="0"/>
            <a:chExt cx="3131723" cy="261158"/>
          </a:xfrm>
        </p:grpSpPr>
        <p:sp>
          <p:nvSpPr>
            <p:cNvPr id="9" name="Freeform 9"/>
            <p:cNvSpPr/>
            <p:nvPr/>
          </p:nvSpPr>
          <p:spPr>
            <a:xfrm>
              <a:off x="0" y="0"/>
              <a:ext cx="3131723" cy="261158"/>
            </a:xfrm>
            <a:custGeom>
              <a:avLst/>
              <a:gdLst/>
              <a:ahLst/>
              <a:cxnLst/>
              <a:rect l="l" t="t" r="r" b="b"/>
              <a:pathLst>
                <a:path w="3131723" h="261158">
                  <a:moveTo>
                    <a:pt x="0" y="0"/>
                  </a:moveTo>
                  <a:lnTo>
                    <a:pt x="3131723" y="0"/>
                  </a:lnTo>
                  <a:lnTo>
                    <a:pt x="3131723" y="261158"/>
                  </a:lnTo>
                  <a:lnTo>
                    <a:pt x="0" y="261158"/>
                  </a:lnTo>
                  <a:close/>
                </a:path>
              </a:pathLst>
            </a:custGeom>
            <a:solidFill>
              <a:srgbClr val="DFD0B8"/>
            </a:solidFill>
            <a:ln cap="sq">
              <a:noFill/>
              <a:prstDash val="solid"/>
              <a:miter/>
            </a:ln>
          </p:spPr>
        </p:sp>
        <p:sp>
          <p:nvSpPr>
            <p:cNvPr id="10" name="TextBox 10"/>
            <p:cNvSpPr txBox="1"/>
            <p:nvPr/>
          </p:nvSpPr>
          <p:spPr>
            <a:xfrm>
              <a:off x="0" y="-38100"/>
              <a:ext cx="3131723" cy="299258"/>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171194" y="8201771"/>
            <a:ext cx="11869412" cy="847012"/>
            <a:chOff x="0" y="0"/>
            <a:chExt cx="3126100" cy="223081"/>
          </a:xfrm>
        </p:grpSpPr>
        <p:sp>
          <p:nvSpPr>
            <p:cNvPr id="12" name="Freeform 12"/>
            <p:cNvSpPr/>
            <p:nvPr/>
          </p:nvSpPr>
          <p:spPr>
            <a:xfrm>
              <a:off x="0" y="0"/>
              <a:ext cx="3126100" cy="223081"/>
            </a:xfrm>
            <a:custGeom>
              <a:avLst/>
              <a:gdLst/>
              <a:ahLst/>
              <a:cxnLst/>
              <a:rect l="l" t="t" r="r" b="b"/>
              <a:pathLst>
                <a:path w="3126100" h="223081">
                  <a:moveTo>
                    <a:pt x="0" y="0"/>
                  </a:moveTo>
                  <a:lnTo>
                    <a:pt x="3126100" y="0"/>
                  </a:lnTo>
                  <a:lnTo>
                    <a:pt x="3126100" y="223081"/>
                  </a:lnTo>
                  <a:lnTo>
                    <a:pt x="0" y="223081"/>
                  </a:lnTo>
                  <a:close/>
                </a:path>
              </a:pathLst>
            </a:custGeom>
            <a:solidFill>
              <a:srgbClr val="DFD0B8"/>
            </a:solidFill>
            <a:ln cap="sq">
              <a:noFill/>
              <a:prstDash val="solid"/>
              <a:miter/>
            </a:ln>
          </p:spPr>
        </p:sp>
        <p:sp>
          <p:nvSpPr>
            <p:cNvPr id="13" name="TextBox 13"/>
            <p:cNvSpPr txBox="1"/>
            <p:nvPr/>
          </p:nvSpPr>
          <p:spPr>
            <a:xfrm>
              <a:off x="0" y="-38100"/>
              <a:ext cx="3126100" cy="26118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230643" y="5494829"/>
            <a:ext cx="11869412" cy="939991"/>
            <a:chOff x="0" y="0"/>
            <a:chExt cx="3126100" cy="247570"/>
          </a:xfrm>
        </p:grpSpPr>
        <p:sp>
          <p:nvSpPr>
            <p:cNvPr id="15" name="Freeform 15"/>
            <p:cNvSpPr/>
            <p:nvPr/>
          </p:nvSpPr>
          <p:spPr>
            <a:xfrm>
              <a:off x="0" y="0"/>
              <a:ext cx="3126100" cy="247570"/>
            </a:xfrm>
            <a:custGeom>
              <a:avLst/>
              <a:gdLst/>
              <a:ahLst/>
              <a:cxnLst/>
              <a:rect l="l" t="t" r="r" b="b"/>
              <a:pathLst>
                <a:path w="3126100" h="247570">
                  <a:moveTo>
                    <a:pt x="0" y="0"/>
                  </a:moveTo>
                  <a:lnTo>
                    <a:pt x="3126100" y="0"/>
                  </a:lnTo>
                  <a:lnTo>
                    <a:pt x="3126100" y="247570"/>
                  </a:lnTo>
                  <a:lnTo>
                    <a:pt x="0" y="247570"/>
                  </a:lnTo>
                  <a:close/>
                </a:path>
              </a:pathLst>
            </a:custGeom>
            <a:solidFill>
              <a:srgbClr val="DFD0B8"/>
            </a:solidFill>
            <a:ln cap="sq">
              <a:noFill/>
              <a:prstDash val="solid"/>
              <a:miter/>
            </a:ln>
          </p:spPr>
        </p:sp>
        <p:sp>
          <p:nvSpPr>
            <p:cNvPr id="16" name="TextBox 16"/>
            <p:cNvSpPr txBox="1"/>
            <p:nvPr/>
          </p:nvSpPr>
          <p:spPr>
            <a:xfrm>
              <a:off x="0" y="-38100"/>
              <a:ext cx="3126100" cy="285670"/>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3837094" y="6940193"/>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Voter demographic analysis: Age, gender, and education-level data can be added to understand voting behavior trends.</a:t>
            </a:r>
          </a:p>
        </p:txBody>
      </p:sp>
      <p:sp>
        <p:nvSpPr>
          <p:cNvPr id="18" name="TextBox 18"/>
          <p:cNvSpPr txBox="1"/>
          <p:nvPr/>
        </p:nvSpPr>
        <p:spPr>
          <a:xfrm>
            <a:off x="3795445" y="4214431"/>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Real-time data integration: Linking the dashboard with live election feeds would allow instant result updates during counting.</a:t>
            </a:r>
          </a:p>
        </p:txBody>
      </p:sp>
      <p:sp>
        <p:nvSpPr>
          <p:cNvPr id="19" name="TextBox 19"/>
          <p:cNvSpPr txBox="1"/>
          <p:nvPr/>
        </p:nvSpPr>
        <p:spPr>
          <a:xfrm>
            <a:off x="4510421" y="454838"/>
            <a:ext cx="9309855" cy="1635138"/>
          </a:xfrm>
          <a:prstGeom prst="rect">
            <a:avLst/>
          </a:prstGeom>
        </p:spPr>
        <p:txBody>
          <a:bodyPr lIns="0" tIns="0" rIns="0" bIns="0" rtlCol="0" anchor="t">
            <a:spAutoFit/>
          </a:bodyPr>
          <a:lstStyle/>
          <a:p>
            <a:pPr algn="ctr">
              <a:lnSpc>
                <a:spcPts val="13299"/>
              </a:lnSpc>
            </a:pPr>
            <a:r>
              <a:rPr lang="en-US" sz="9499">
                <a:solidFill>
                  <a:srgbClr val="230E0E"/>
                </a:solidFill>
                <a:latin typeface="Maragsa"/>
                <a:ea typeface="Maragsa"/>
                <a:cs typeface="Maragsa"/>
                <a:sym typeface="Maragsa"/>
              </a:rPr>
              <a:t>FUTURE SCOPE</a:t>
            </a:r>
          </a:p>
        </p:txBody>
      </p:sp>
      <p:sp>
        <p:nvSpPr>
          <p:cNvPr id="20" name="TextBox 20"/>
          <p:cNvSpPr txBox="1"/>
          <p:nvPr/>
        </p:nvSpPr>
        <p:spPr>
          <a:xfrm>
            <a:off x="3901470" y="2740851"/>
            <a:ext cx="10906404" cy="1406525"/>
          </a:xfrm>
          <a:prstGeom prst="rect">
            <a:avLst/>
          </a:prstGeom>
        </p:spPr>
        <p:txBody>
          <a:bodyPr lIns="0" tIns="0" rIns="0" bIns="0" rtlCol="0" anchor="t">
            <a:spAutoFit/>
          </a:bodyPr>
          <a:lstStyle/>
          <a:p>
            <a:pPr algn="ctr">
              <a:lnSpc>
                <a:spcPts val="2800"/>
              </a:lnSpc>
              <a:spcBef>
                <a:spcPct val="0"/>
              </a:spcBef>
            </a:pPr>
            <a:r>
              <a:rPr lang="en-US" sz="2000" b="1">
                <a:solidFill>
                  <a:srgbClr val="230E0E"/>
                </a:solidFill>
                <a:latin typeface="Open Sans Bold"/>
                <a:ea typeface="Open Sans Bold"/>
                <a:cs typeface="Open Sans Bold"/>
                <a:sym typeface="Open Sans Bold"/>
              </a:rPr>
              <a:t>There is a wide scope to enhance and expand this dashboard further.</a:t>
            </a:r>
          </a:p>
          <a:p>
            <a:pPr algn="ctr">
              <a:lnSpc>
                <a:spcPts val="2800"/>
              </a:lnSpc>
              <a:spcBef>
                <a:spcPct val="0"/>
              </a:spcBef>
            </a:pPr>
            <a:r>
              <a:rPr lang="en-US" sz="2000" b="1">
                <a:solidFill>
                  <a:srgbClr val="230E0E"/>
                </a:solidFill>
                <a:latin typeface="Open Sans Bold"/>
                <a:ea typeface="Open Sans Bold"/>
                <a:cs typeface="Open Sans Bold"/>
                <a:sym typeface="Open Sans Bold"/>
              </a:rPr>
              <a:t> Currently, it focuses on historical and performance data, but future improvements could make it even more insightful and advanced.</a:t>
            </a:r>
          </a:p>
          <a:p>
            <a:pPr algn="ctr">
              <a:lnSpc>
                <a:spcPts val="2800"/>
              </a:lnSpc>
              <a:spcBef>
                <a:spcPct val="0"/>
              </a:spcBef>
            </a:pPr>
            <a:endParaRPr lang="en-US" sz="2000" b="1">
              <a:solidFill>
                <a:srgbClr val="230E0E"/>
              </a:solidFill>
              <a:latin typeface="Open Sans Bold"/>
              <a:ea typeface="Open Sans Bold"/>
              <a:cs typeface="Open Sans Bold"/>
              <a:sym typeface="Open Sans Bold"/>
            </a:endParaRPr>
          </a:p>
        </p:txBody>
      </p:sp>
      <p:sp>
        <p:nvSpPr>
          <p:cNvPr id="21" name="TextBox 21"/>
          <p:cNvSpPr txBox="1"/>
          <p:nvPr/>
        </p:nvSpPr>
        <p:spPr>
          <a:xfrm>
            <a:off x="3732447" y="8287496"/>
            <a:ext cx="11244450" cy="692150"/>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State and constituency-level insights: Adding deeper filters for each state or region can give a more detailed understanding of local results</a:t>
            </a:r>
          </a:p>
        </p:txBody>
      </p:sp>
      <p:sp>
        <p:nvSpPr>
          <p:cNvPr id="22" name="TextBox 22"/>
          <p:cNvSpPr txBox="1"/>
          <p:nvPr/>
        </p:nvSpPr>
        <p:spPr>
          <a:xfrm>
            <a:off x="3753796" y="5599700"/>
            <a:ext cx="11223101" cy="692150"/>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AI-based predictions: Machine learning models could be integrated to forecast future election outcomes based on past patterns.</a:t>
            </a:r>
          </a:p>
        </p:txBody>
      </p:sp>
      <p:sp>
        <p:nvSpPr>
          <p:cNvPr id="23" name="Freeform 23"/>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4" name="Freeform 24"/>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5" name="Freeform 25"/>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26" name="Freeform 26"/>
          <p:cNvSpPr/>
          <p:nvPr/>
        </p:nvSpPr>
        <p:spPr>
          <a:xfrm>
            <a:off x="14427674" y="0"/>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27" name="Freeform 27"/>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7B1E1E"/>
        </a:solidFill>
        <a:effectLst/>
      </p:bgPr>
    </p:bg>
    <p:spTree>
      <p:nvGrpSpPr>
        <p:cNvPr id="1" name=""/>
        <p:cNvGrpSpPr/>
        <p:nvPr/>
      </p:nvGrpSpPr>
      <p:grpSpPr>
        <a:xfrm>
          <a:off x="0" y="0"/>
          <a:ext cx="0" cy="0"/>
          <a:chOff x="0" y="0"/>
          <a:chExt cx="0" cy="0"/>
        </a:xfrm>
      </p:grpSpPr>
      <p:grpSp>
        <p:nvGrpSpPr>
          <p:cNvPr id="2" name="Group 2"/>
          <p:cNvGrpSpPr/>
          <p:nvPr/>
        </p:nvGrpSpPr>
        <p:grpSpPr>
          <a:xfrm>
            <a:off x="-3810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CECD4"/>
            </a:solidFill>
            <a:ln w="171450" cap="sq">
              <a:solidFill>
                <a:srgbClr val="DFD0B8"/>
              </a:solidFill>
              <a:prstDash val="solid"/>
              <a:miter/>
            </a:ln>
          </p:spPr>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3261617" y="6061353"/>
            <a:ext cx="11869412" cy="816991"/>
            <a:chOff x="0" y="0"/>
            <a:chExt cx="3126100" cy="215174"/>
          </a:xfrm>
        </p:grpSpPr>
        <p:sp>
          <p:nvSpPr>
            <p:cNvPr id="6" name="Freeform 6"/>
            <p:cNvSpPr/>
            <p:nvPr/>
          </p:nvSpPr>
          <p:spPr>
            <a:xfrm>
              <a:off x="0" y="0"/>
              <a:ext cx="3126100" cy="215174"/>
            </a:xfrm>
            <a:custGeom>
              <a:avLst/>
              <a:gdLst/>
              <a:ahLst/>
              <a:cxnLst/>
              <a:rect l="l" t="t" r="r" b="b"/>
              <a:pathLst>
                <a:path w="3126100" h="215174">
                  <a:moveTo>
                    <a:pt x="0" y="0"/>
                  </a:moveTo>
                  <a:lnTo>
                    <a:pt x="3126100" y="0"/>
                  </a:lnTo>
                  <a:lnTo>
                    <a:pt x="3126100" y="215174"/>
                  </a:lnTo>
                  <a:lnTo>
                    <a:pt x="0" y="215174"/>
                  </a:lnTo>
                  <a:close/>
                </a:path>
              </a:pathLst>
            </a:custGeom>
            <a:solidFill>
              <a:srgbClr val="DFD0B8"/>
            </a:solidFill>
            <a:ln cap="sq">
              <a:noFill/>
              <a:prstDash val="solid"/>
              <a:miter/>
            </a:ln>
          </p:spPr>
        </p:sp>
        <p:sp>
          <p:nvSpPr>
            <p:cNvPr id="7" name="TextBox 7"/>
            <p:cNvSpPr txBox="1"/>
            <p:nvPr/>
          </p:nvSpPr>
          <p:spPr>
            <a:xfrm>
              <a:off x="0" y="-38100"/>
              <a:ext cx="3126100" cy="253274"/>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3261617" y="7975331"/>
            <a:ext cx="11890760" cy="667734"/>
            <a:chOff x="0" y="0"/>
            <a:chExt cx="3131723" cy="175864"/>
          </a:xfrm>
        </p:grpSpPr>
        <p:sp>
          <p:nvSpPr>
            <p:cNvPr id="9" name="Freeform 9"/>
            <p:cNvSpPr/>
            <p:nvPr/>
          </p:nvSpPr>
          <p:spPr>
            <a:xfrm>
              <a:off x="0" y="0"/>
              <a:ext cx="3131723" cy="175864"/>
            </a:xfrm>
            <a:custGeom>
              <a:avLst/>
              <a:gdLst/>
              <a:ahLst/>
              <a:cxnLst/>
              <a:rect l="l" t="t" r="r" b="b"/>
              <a:pathLst>
                <a:path w="3131723" h="175864">
                  <a:moveTo>
                    <a:pt x="0" y="0"/>
                  </a:moveTo>
                  <a:lnTo>
                    <a:pt x="3131723" y="0"/>
                  </a:lnTo>
                  <a:lnTo>
                    <a:pt x="3131723" y="175864"/>
                  </a:lnTo>
                  <a:lnTo>
                    <a:pt x="0" y="175864"/>
                  </a:lnTo>
                  <a:close/>
                </a:path>
              </a:pathLst>
            </a:custGeom>
            <a:solidFill>
              <a:srgbClr val="DFD0B8"/>
            </a:solidFill>
            <a:ln cap="sq">
              <a:noFill/>
              <a:prstDash val="solid"/>
              <a:miter/>
            </a:ln>
          </p:spPr>
        </p:sp>
        <p:sp>
          <p:nvSpPr>
            <p:cNvPr id="10" name="TextBox 10"/>
            <p:cNvSpPr txBox="1"/>
            <p:nvPr/>
          </p:nvSpPr>
          <p:spPr>
            <a:xfrm>
              <a:off x="0" y="-38100"/>
              <a:ext cx="3131723" cy="213964"/>
            </a:xfrm>
            <a:prstGeom prst="rect">
              <a:avLst/>
            </a:prstGeom>
          </p:spPr>
          <p:txBody>
            <a:bodyPr lIns="50800" tIns="50800" rIns="50800" bIns="50800" rtlCol="0" anchor="ctr"/>
            <a:lstStyle/>
            <a:p>
              <a:pPr algn="ctr">
                <a:lnSpc>
                  <a:spcPts val="2659"/>
                </a:lnSpc>
                <a:spcBef>
                  <a:spcPct val="0"/>
                </a:spcBef>
              </a:pPr>
              <a:endParaRPr/>
            </a:p>
          </p:txBody>
        </p:sp>
      </p:grpSp>
      <p:grpSp>
        <p:nvGrpSpPr>
          <p:cNvPr id="11" name="Group 11"/>
          <p:cNvGrpSpPr/>
          <p:nvPr/>
        </p:nvGrpSpPr>
        <p:grpSpPr>
          <a:xfrm>
            <a:off x="3272292" y="8909440"/>
            <a:ext cx="11869412" cy="847012"/>
            <a:chOff x="0" y="0"/>
            <a:chExt cx="3126100" cy="223081"/>
          </a:xfrm>
        </p:grpSpPr>
        <p:sp>
          <p:nvSpPr>
            <p:cNvPr id="12" name="Freeform 12"/>
            <p:cNvSpPr/>
            <p:nvPr/>
          </p:nvSpPr>
          <p:spPr>
            <a:xfrm>
              <a:off x="0" y="0"/>
              <a:ext cx="3126100" cy="223081"/>
            </a:xfrm>
            <a:custGeom>
              <a:avLst/>
              <a:gdLst/>
              <a:ahLst/>
              <a:cxnLst/>
              <a:rect l="l" t="t" r="r" b="b"/>
              <a:pathLst>
                <a:path w="3126100" h="223081">
                  <a:moveTo>
                    <a:pt x="0" y="0"/>
                  </a:moveTo>
                  <a:lnTo>
                    <a:pt x="3126100" y="0"/>
                  </a:lnTo>
                  <a:lnTo>
                    <a:pt x="3126100" y="223081"/>
                  </a:lnTo>
                  <a:lnTo>
                    <a:pt x="0" y="223081"/>
                  </a:lnTo>
                  <a:close/>
                </a:path>
              </a:pathLst>
            </a:custGeom>
            <a:solidFill>
              <a:srgbClr val="DFD0B8"/>
            </a:solidFill>
            <a:ln cap="sq">
              <a:noFill/>
              <a:prstDash val="solid"/>
              <a:miter/>
            </a:ln>
          </p:spPr>
        </p:sp>
        <p:sp>
          <p:nvSpPr>
            <p:cNvPr id="13" name="TextBox 13"/>
            <p:cNvSpPr txBox="1"/>
            <p:nvPr/>
          </p:nvSpPr>
          <p:spPr>
            <a:xfrm>
              <a:off x="0" y="-38100"/>
              <a:ext cx="3126100" cy="261181"/>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3272292" y="7155497"/>
            <a:ext cx="11869412" cy="553134"/>
            <a:chOff x="0" y="0"/>
            <a:chExt cx="3126100" cy="145681"/>
          </a:xfrm>
        </p:grpSpPr>
        <p:sp>
          <p:nvSpPr>
            <p:cNvPr id="15" name="Freeform 15"/>
            <p:cNvSpPr/>
            <p:nvPr/>
          </p:nvSpPr>
          <p:spPr>
            <a:xfrm>
              <a:off x="0" y="0"/>
              <a:ext cx="3126100" cy="145681"/>
            </a:xfrm>
            <a:custGeom>
              <a:avLst/>
              <a:gdLst/>
              <a:ahLst/>
              <a:cxnLst/>
              <a:rect l="l" t="t" r="r" b="b"/>
              <a:pathLst>
                <a:path w="3126100" h="145681">
                  <a:moveTo>
                    <a:pt x="0" y="0"/>
                  </a:moveTo>
                  <a:lnTo>
                    <a:pt x="3126100" y="0"/>
                  </a:lnTo>
                  <a:lnTo>
                    <a:pt x="3126100" y="145681"/>
                  </a:lnTo>
                  <a:lnTo>
                    <a:pt x="0" y="145681"/>
                  </a:lnTo>
                  <a:close/>
                </a:path>
              </a:pathLst>
            </a:custGeom>
            <a:solidFill>
              <a:srgbClr val="DFD0B8"/>
            </a:solidFill>
            <a:ln cap="sq">
              <a:noFill/>
              <a:prstDash val="solid"/>
              <a:miter/>
            </a:ln>
          </p:spPr>
        </p:sp>
        <p:sp>
          <p:nvSpPr>
            <p:cNvPr id="16" name="TextBox 16"/>
            <p:cNvSpPr txBox="1"/>
            <p:nvPr/>
          </p:nvSpPr>
          <p:spPr>
            <a:xfrm>
              <a:off x="0" y="-38100"/>
              <a:ext cx="3126100" cy="183781"/>
            </a:xfrm>
            <a:prstGeom prst="rect">
              <a:avLst/>
            </a:prstGeom>
          </p:spPr>
          <p:txBody>
            <a:bodyPr lIns="50800" tIns="50800" rIns="50800" bIns="50800" rtlCol="0" anchor="ctr"/>
            <a:lstStyle/>
            <a:p>
              <a:pPr algn="ctr">
                <a:lnSpc>
                  <a:spcPts val="2659"/>
                </a:lnSpc>
                <a:spcBef>
                  <a:spcPct val="0"/>
                </a:spcBef>
              </a:pPr>
              <a:endParaRPr/>
            </a:p>
          </p:txBody>
        </p:sp>
      </p:grpSp>
      <p:sp>
        <p:nvSpPr>
          <p:cNvPr id="17" name="TextBox 17"/>
          <p:cNvSpPr txBox="1"/>
          <p:nvPr/>
        </p:nvSpPr>
        <p:spPr>
          <a:xfrm>
            <a:off x="5365396" y="8091393"/>
            <a:ext cx="8021248" cy="368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High voter turnout reflected strong democratic participation.</a:t>
            </a:r>
          </a:p>
        </p:txBody>
      </p:sp>
      <p:sp>
        <p:nvSpPr>
          <p:cNvPr id="18" name="TextBox 18"/>
          <p:cNvSpPr txBox="1"/>
          <p:nvPr/>
        </p:nvSpPr>
        <p:spPr>
          <a:xfrm>
            <a:off x="3732447" y="6138862"/>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BJP remained the leading party, while Congress and regional parties showed limited growth.</a:t>
            </a:r>
          </a:p>
        </p:txBody>
      </p:sp>
      <p:sp>
        <p:nvSpPr>
          <p:cNvPr id="19" name="TextBox 19"/>
          <p:cNvSpPr txBox="1"/>
          <p:nvPr/>
        </p:nvSpPr>
        <p:spPr>
          <a:xfrm>
            <a:off x="3049332" y="1867559"/>
            <a:ext cx="12336679" cy="1635138"/>
          </a:xfrm>
          <a:prstGeom prst="rect">
            <a:avLst/>
          </a:prstGeom>
        </p:spPr>
        <p:txBody>
          <a:bodyPr lIns="0" tIns="0" rIns="0" bIns="0" rtlCol="0" anchor="t">
            <a:spAutoFit/>
          </a:bodyPr>
          <a:lstStyle/>
          <a:p>
            <a:pPr algn="ctr">
              <a:lnSpc>
                <a:spcPts val="13299"/>
              </a:lnSpc>
            </a:pPr>
            <a:r>
              <a:rPr lang="en-US" sz="9499">
                <a:solidFill>
                  <a:srgbClr val="230E0E"/>
                </a:solidFill>
                <a:latin typeface="Maragsa"/>
                <a:ea typeface="Maragsa"/>
                <a:cs typeface="Maragsa"/>
                <a:sym typeface="Maragsa"/>
              </a:rPr>
              <a:t>INSIGHTS AND FINDINGS</a:t>
            </a:r>
          </a:p>
        </p:txBody>
      </p:sp>
      <p:sp>
        <p:nvSpPr>
          <p:cNvPr id="20" name="TextBox 20"/>
          <p:cNvSpPr txBox="1"/>
          <p:nvPr/>
        </p:nvSpPr>
        <p:spPr>
          <a:xfrm>
            <a:off x="3753796" y="9085675"/>
            <a:ext cx="11244450" cy="339725"/>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Poll predictions were mostly accurate with minor variations.</a:t>
            </a:r>
          </a:p>
        </p:txBody>
      </p:sp>
      <p:sp>
        <p:nvSpPr>
          <p:cNvPr id="21" name="TextBox 21"/>
          <p:cNvSpPr txBox="1"/>
          <p:nvPr/>
        </p:nvSpPr>
        <p:spPr>
          <a:xfrm>
            <a:off x="3866279" y="7200535"/>
            <a:ext cx="11223101" cy="339725"/>
          </a:xfrm>
          <a:prstGeom prst="rect">
            <a:avLst/>
          </a:prstGeom>
        </p:spPr>
        <p:txBody>
          <a:bodyPr lIns="0" tIns="0" rIns="0" bIns="0" rtlCol="0" anchor="t">
            <a:spAutoFit/>
          </a:bodyPr>
          <a:lstStyle/>
          <a:p>
            <a:pPr algn="ctr">
              <a:lnSpc>
                <a:spcPts val="2799"/>
              </a:lnSpc>
              <a:spcBef>
                <a:spcPct val="0"/>
              </a:spcBef>
            </a:pPr>
            <a:r>
              <a:rPr lang="en-US" sz="1999" b="1">
                <a:solidFill>
                  <a:srgbClr val="230E0E"/>
                </a:solidFill>
                <a:latin typeface="Open Sans Bold"/>
                <a:ea typeface="Open Sans Bold"/>
                <a:cs typeface="Open Sans Bold"/>
                <a:sym typeface="Open Sans Bold"/>
              </a:rPr>
              <a:t>NDA alliance outperformed the INDIA bloc in most states.</a:t>
            </a:r>
          </a:p>
        </p:txBody>
      </p:sp>
      <p:grpSp>
        <p:nvGrpSpPr>
          <p:cNvPr id="22" name="Group 22"/>
          <p:cNvGrpSpPr/>
          <p:nvPr/>
        </p:nvGrpSpPr>
        <p:grpSpPr>
          <a:xfrm>
            <a:off x="3282966" y="5091212"/>
            <a:ext cx="11869412" cy="816991"/>
            <a:chOff x="0" y="0"/>
            <a:chExt cx="3126100" cy="215174"/>
          </a:xfrm>
        </p:grpSpPr>
        <p:sp>
          <p:nvSpPr>
            <p:cNvPr id="23" name="Freeform 23"/>
            <p:cNvSpPr/>
            <p:nvPr/>
          </p:nvSpPr>
          <p:spPr>
            <a:xfrm>
              <a:off x="0" y="0"/>
              <a:ext cx="3126100" cy="215174"/>
            </a:xfrm>
            <a:custGeom>
              <a:avLst/>
              <a:gdLst/>
              <a:ahLst/>
              <a:cxnLst/>
              <a:rect l="l" t="t" r="r" b="b"/>
              <a:pathLst>
                <a:path w="3126100" h="215174">
                  <a:moveTo>
                    <a:pt x="0" y="0"/>
                  </a:moveTo>
                  <a:lnTo>
                    <a:pt x="3126100" y="0"/>
                  </a:lnTo>
                  <a:lnTo>
                    <a:pt x="3126100" y="215174"/>
                  </a:lnTo>
                  <a:lnTo>
                    <a:pt x="0" y="215174"/>
                  </a:lnTo>
                  <a:close/>
                </a:path>
              </a:pathLst>
            </a:custGeom>
            <a:solidFill>
              <a:srgbClr val="DFD0B8"/>
            </a:solidFill>
            <a:ln cap="sq">
              <a:noFill/>
              <a:prstDash val="solid"/>
              <a:miter/>
            </a:ln>
          </p:spPr>
        </p:sp>
        <p:sp>
          <p:nvSpPr>
            <p:cNvPr id="24" name="TextBox 24"/>
            <p:cNvSpPr txBox="1"/>
            <p:nvPr/>
          </p:nvSpPr>
          <p:spPr>
            <a:xfrm>
              <a:off x="0" y="-38100"/>
              <a:ext cx="3126100" cy="253274"/>
            </a:xfrm>
            <a:prstGeom prst="rect">
              <a:avLst/>
            </a:prstGeom>
          </p:spPr>
          <p:txBody>
            <a:bodyPr lIns="50800" tIns="50800" rIns="50800" bIns="50800" rtlCol="0" anchor="ctr"/>
            <a:lstStyle/>
            <a:p>
              <a:pPr algn="ctr">
                <a:lnSpc>
                  <a:spcPts val="2659"/>
                </a:lnSpc>
                <a:spcBef>
                  <a:spcPct val="0"/>
                </a:spcBef>
              </a:pPr>
              <a:endParaRPr/>
            </a:p>
          </p:txBody>
        </p:sp>
      </p:grpSp>
      <p:grpSp>
        <p:nvGrpSpPr>
          <p:cNvPr id="25" name="Group 25"/>
          <p:cNvGrpSpPr/>
          <p:nvPr/>
        </p:nvGrpSpPr>
        <p:grpSpPr>
          <a:xfrm>
            <a:off x="3282966" y="4121822"/>
            <a:ext cx="11869412" cy="816991"/>
            <a:chOff x="0" y="0"/>
            <a:chExt cx="3126100" cy="215174"/>
          </a:xfrm>
        </p:grpSpPr>
        <p:sp>
          <p:nvSpPr>
            <p:cNvPr id="26" name="Freeform 26"/>
            <p:cNvSpPr/>
            <p:nvPr/>
          </p:nvSpPr>
          <p:spPr>
            <a:xfrm>
              <a:off x="0" y="0"/>
              <a:ext cx="3126100" cy="215174"/>
            </a:xfrm>
            <a:custGeom>
              <a:avLst/>
              <a:gdLst/>
              <a:ahLst/>
              <a:cxnLst/>
              <a:rect l="l" t="t" r="r" b="b"/>
              <a:pathLst>
                <a:path w="3126100" h="215174">
                  <a:moveTo>
                    <a:pt x="0" y="0"/>
                  </a:moveTo>
                  <a:lnTo>
                    <a:pt x="3126100" y="0"/>
                  </a:lnTo>
                  <a:lnTo>
                    <a:pt x="3126100" y="215174"/>
                  </a:lnTo>
                  <a:lnTo>
                    <a:pt x="0" y="215174"/>
                  </a:lnTo>
                  <a:close/>
                </a:path>
              </a:pathLst>
            </a:custGeom>
            <a:solidFill>
              <a:srgbClr val="DFD0B8"/>
            </a:solidFill>
            <a:ln cap="sq">
              <a:noFill/>
              <a:prstDash val="solid"/>
              <a:miter/>
            </a:ln>
          </p:spPr>
        </p:sp>
        <p:sp>
          <p:nvSpPr>
            <p:cNvPr id="27" name="TextBox 27"/>
            <p:cNvSpPr txBox="1"/>
            <p:nvPr/>
          </p:nvSpPr>
          <p:spPr>
            <a:xfrm>
              <a:off x="0" y="-38100"/>
              <a:ext cx="3126100" cy="253274"/>
            </a:xfrm>
            <a:prstGeom prst="rect">
              <a:avLst/>
            </a:prstGeom>
          </p:spPr>
          <p:txBody>
            <a:bodyPr lIns="50800" tIns="50800" rIns="50800" bIns="50800" rtlCol="0" anchor="ctr"/>
            <a:lstStyle/>
            <a:p>
              <a:pPr algn="ctr">
                <a:lnSpc>
                  <a:spcPts val="2659"/>
                </a:lnSpc>
                <a:spcBef>
                  <a:spcPct val="0"/>
                </a:spcBef>
              </a:pPr>
              <a:endParaRPr/>
            </a:p>
          </p:txBody>
        </p:sp>
      </p:grpSp>
      <p:sp>
        <p:nvSpPr>
          <p:cNvPr id="28" name="TextBox 28"/>
          <p:cNvSpPr txBox="1"/>
          <p:nvPr/>
        </p:nvSpPr>
        <p:spPr>
          <a:xfrm>
            <a:off x="3753796" y="5158268"/>
            <a:ext cx="10823106" cy="368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Power BI helped turn raw data into clear, interactive insights for easy understanding.</a:t>
            </a:r>
          </a:p>
        </p:txBody>
      </p:sp>
      <p:sp>
        <p:nvSpPr>
          <p:cNvPr id="29" name="TextBox 29"/>
          <p:cNvSpPr txBox="1"/>
          <p:nvPr/>
        </p:nvSpPr>
        <p:spPr>
          <a:xfrm>
            <a:off x="3806119" y="4188877"/>
            <a:ext cx="10823106" cy="749935"/>
          </a:xfrm>
          <a:prstGeom prst="rect">
            <a:avLst/>
          </a:prstGeom>
        </p:spPr>
        <p:txBody>
          <a:bodyPr lIns="0" tIns="0" rIns="0" bIns="0" rtlCol="0" anchor="t">
            <a:spAutoFit/>
          </a:bodyPr>
          <a:lstStyle/>
          <a:p>
            <a:pPr algn="just">
              <a:lnSpc>
                <a:spcPts val="3020"/>
              </a:lnSpc>
            </a:pPr>
            <a:r>
              <a:rPr lang="en-US" sz="2000" b="1">
                <a:solidFill>
                  <a:srgbClr val="230E0E"/>
                </a:solidFill>
                <a:latin typeface="Open Sans Bold"/>
                <a:ea typeface="Open Sans Bold"/>
                <a:cs typeface="Open Sans Bold"/>
                <a:sym typeface="Open Sans Bold"/>
              </a:rPr>
              <a:t>Comparative analysis (2014–2024) showed changing voter preferences and regional shifts.</a:t>
            </a:r>
          </a:p>
        </p:txBody>
      </p:sp>
      <p:sp>
        <p:nvSpPr>
          <p:cNvPr id="30" name="Freeform 30"/>
          <p:cNvSpPr/>
          <p:nvPr/>
        </p:nvSpPr>
        <p:spPr>
          <a:xfrm>
            <a:off x="553291" y="6957415"/>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1" name="Freeform 31"/>
          <p:cNvSpPr/>
          <p:nvPr/>
        </p:nvSpPr>
        <p:spPr>
          <a:xfrm>
            <a:off x="14427674" y="0"/>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32" name="Freeform 32"/>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3" name="Freeform 33"/>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34" name="Freeform 34"/>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7B1E1E"/>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4816593" cy="2709333"/>
          </a:xfrm>
        </p:grpSpPr>
        <p:sp>
          <p:nvSpPr>
            <p:cNvPr id="3" name="Freeform 3"/>
            <p:cNvSpPr/>
            <p:nvPr/>
          </p:nvSpPr>
          <p:spPr>
            <a:xfrm>
              <a:off x="0" y="0"/>
              <a:ext cx="4816592" cy="2709333"/>
            </a:xfrm>
            <a:custGeom>
              <a:avLst/>
              <a:gdLst/>
              <a:ahLst/>
              <a:cxnLst/>
              <a:rect l="l" t="t" r="r" b="b"/>
              <a:pathLst>
                <a:path w="4816592" h="2709333">
                  <a:moveTo>
                    <a:pt x="0" y="0"/>
                  </a:moveTo>
                  <a:lnTo>
                    <a:pt x="4816592" y="0"/>
                  </a:lnTo>
                  <a:lnTo>
                    <a:pt x="4816592" y="2709333"/>
                  </a:lnTo>
                  <a:lnTo>
                    <a:pt x="0" y="2709333"/>
                  </a:lnTo>
                  <a:close/>
                </a:path>
              </a:pathLst>
            </a:custGeom>
            <a:solidFill>
              <a:srgbClr val="FCECD4"/>
            </a:solidFill>
            <a:ln w="171450" cap="sq">
              <a:solidFill>
                <a:srgbClr val="DFD0B8"/>
              </a:solidFill>
              <a:prstDash val="solid"/>
              <a:miter/>
            </a:ln>
          </p:spPr>
        </p:sp>
        <p:sp>
          <p:nvSpPr>
            <p:cNvPr id="4" name="TextBox 4"/>
            <p:cNvSpPr txBox="1"/>
            <p:nvPr/>
          </p:nvSpPr>
          <p:spPr>
            <a:xfrm>
              <a:off x="0" y="-38100"/>
              <a:ext cx="4816593" cy="2747433"/>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3788145" y="4603448"/>
            <a:ext cx="10711709" cy="4929995"/>
          </a:xfrm>
          <a:prstGeom prst="rect">
            <a:avLst/>
          </a:prstGeom>
        </p:spPr>
        <p:txBody>
          <a:bodyPr lIns="0" tIns="0" rIns="0" bIns="0" rtlCol="0" anchor="t">
            <a:spAutoFit/>
          </a:bodyPr>
          <a:lstStyle/>
          <a:p>
            <a:pPr algn="ctr">
              <a:lnSpc>
                <a:spcPts val="4900"/>
              </a:lnSpc>
            </a:pPr>
            <a:r>
              <a:rPr lang="en-US" sz="3245">
                <a:solidFill>
                  <a:srgbClr val="230E0E"/>
                </a:solidFill>
                <a:latin typeface="Harmattan"/>
                <a:ea typeface="Harmattan"/>
                <a:cs typeface="Harmattan"/>
                <a:sym typeface="Harmattan"/>
              </a:rPr>
              <a:t>•The project successfully visualizes complex election data in a simple way.</a:t>
            </a:r>
          </a:p>
          <a:p>
            <a:pPr algn="ctr">
              <a:lnSpc>
                <a:spcPts val="4900"/>
              </a:lnSpc>
            </a:pPr>
            <a:r>
              <a:rPr lang="en-US" sz="3245">
                <a:solidFill>
                  <a:srgbClr val="230E0E"/>
                </a:solidFill>
                <a:latin typeface="Harmattan"/>
                <a:ea typeface="Harmattan"/>
                <a:cs typeface="Harmattan"/>
                <a:sym typeface="Harmattan"/>
              </a:rPr>
              <a:t>•Power BI made it easy to understand results, trends, and candidate profiles.</a:t>
            </a:r>
          </a:p>
          <a:p>
            <a:pPr algn="ctr">
              <a:lnSpc>
                <a:spcPts val="4900"/>
              </a:lnSpc>
            </a:pPr>
            <a:r>
              <a:rPr lang="en-US" sz="3245">
                <a:solidFill>
                  <a:srgbClr val="230E0E"/>
                </a:solidFill>
                <a:latin typeface="Harmattan"/>
                <a:ea typeface="Harmattan"/>
                <a:cs typeface="Harmattan"/>
                <a:sym typeface="Harmattan"/>
              </a:rPr>
              <a:t>•Promotes data transparency and better political insight.</a:t>
            </a:r>
          </a:p>
          <a:p>
            <a:pPr algn="ctr">
              <a:lnSpc>
                <a:spcPts val="4900"/>
              </a:lnSpc>
            </a:pPr>
            <a:r>
              <a:rPr lang="en-US" sz="3245">
                <a:solidFill>
                  <a:srgbClr val="230E0E"/>
                </a:solidFill>
                <a:latin typeface="Harmattan"/>
                <a:ea typeface="Harmattan"/>
                <a:cs typeface="Harmattan"/>
                <a:sym typeface="Harmattan"/>
              </a:rPr>
              <a:t>•Overall, it shows how data analytics can transform raw data into meaningful stories.</a:t>
            </a:r>
          </a:p>
          <a:p>
            <a:pPr algn="ctr">
              <a:lnSpc>
                <a:spcPts val="4900"/>
              </a:lnSpc>
            </a:pPr>
            <a:endParaRPr lang="en-US" sz="3245">
              <a:solidFill>
                <a:srgbClr val="230E0E"/>
              </a:solidFill>
              <a:latin typeface="Harmattan"/>
              <a:ea typeface="Harmattan"/>
              <a:cs typeface="Harmattan"/>
              <a:sym typeface="Harmattan"/>
            </a:endParaRPr>
          </a:p>
          <a:p>
            <a:pPr algn="ctr">
              <a:lnSpc>
                <a:spcPts val="4900"/>
              </a:lnSpc>
            </a:pPr>
            <a:endParaRPr lang="en-US" sz="3245">
              <a:solidFill>
                <a:srgbClr val="230E0E"/>
              </a:solidFill>
              <a:latin typeface="Harmattan"/>
              <a:ea typeface="Harmattan"/>
              <a:cs typeface="Harmattan"/>
              <a:sym typeface="Harmattan"/>
            </a:endParaRPr>
          </a:p>
        </p:txBody>
      </p:sp>
      <p:sp>
        <p:nvSpPr>
          <p:cNvPr id="6" name="TextBox 6"/>
          <p:cNvSpPr txBox="1"/>
          <p:nvPr/>
        </p:nvSpPr>
        <p:spPr>
          <a:xfrm>
            <a:off x="4438310" y="1952972"/>
            <a:ext cx="9411381" cy="1698662"/>
          </a:xfrm>
          <a:prstGeom prst="rect">
            <a:avLst/>
          </a:prstGeom>
        </p:spPr>
        <p:txBody>
          <a:bodyPr lIns="0" tIns="0" rIns="0" bIns="0" rtlCol="0" anchor="t">
            <a:spAutoFit/>
          </a:bodyPr>
          <a:lstStyle/>
          <a:p>
            <a:pPr algn="ctr">
              <a:lnSpc>
                <a:spcPts val="13807"/>
              </a:lnSpc>
            </a:pPr>
            <a:r>
              <a:rPr lang="en-US" sz="9862">
                <a:solidFill>
                  <a:srgbClr val="230E0E"/>
                </a:solidFill>
                <a:latin typeface="Maragsa"/>
                <a:ea typeface="Maragsa"/>
                <a:cs typeface="Maragsa"/>
                <a:sym typeface="Maragsa"/>
              </a:rPr>
              <a:t>CONCLUSIONS</a:t>
            </a:r>
          </a:p>
        </p:txBody>
      </p:sp>
      <p:sp>
        <p:nvSpPr>
          <p:cNvPr id="7" name="Freeform 7"/>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8" name="Freeform 8"/>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14427674" y="0"/>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1" name="Freeform 11"/>
          <p:cNvSpPr/>
          <p:nvPr/>
        </p:nvSpPr>
        <p:spPr>
          <a:xfrm>
            <a:off x="410130" y="6114049"/>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EFDA"/>
        </a:solidFill>
        <a:effectLst/>
      </p:bgPr>
    </p:bg>
    <p:spTree>
      <p:nvGrpSpPr>
        <p:cNvPr id="1" name=""/>
        <p:cNvGrpSpPr/>
        <p:nvPr/>
      </p:nvGrpSpPr>
      <p:grpSpPr>
        <a:xfrm>
          <a:off x="0" y="0"/>
          <a:ext cx="0" cy="0"/>
          <a:chOff x="0" y="0"/>
          <a:chExt cx="0" cy="0"/>
        </a:xfrm>
      </p:grpSpPr>
      <p:sp>
        <p:nvSpPr>
          <p:cNvPr id="2" name="TextBox 2"/>
          <p:cNvSpPr txBox="1"/>
          <p:nvPr/>
        </p:nvSpPr>
        <p:spPr>
          <a:xfrm>
            <a:off x="5073816" y="3975664"/>
            <a:ext cx="8688208" cy="3601917"/>
          </a:xfrm>
          <a:prstGeom prst="rect">
            <a:avLst/>
          </a:prstGeom>
        </p:spPr>
        <p:txBody>
          <a:bodyPr lIns="0" tIns="0" rIns="0" bIns="0" rtlCol="0" anchor="t">
            <a:spAutoFit/>
          </a:bodyPr>
          <a:lstStyle/>
          <a:p>
            <a:pPr marL="0" lvl="0" indent="0" algn="ctr">
              <a:lnSpc>
                <a:spcPts val="13373"/>
              </a:lnSpc>
            </a:pPr>
            <a:r>
              <a:rPr lang="en-US" sz="16716" spc="501">
                <a:solidFill>
                  <a:srgbClr val="000000"/>
                </a:solidFill>
                <a:latin typeface="Dynapuff Condensed"/>
                <a:ea typeface="Dynapuff Condensed"/>
                <a:cs typeface="Dynapuff Condensed"/>
                <a:sym typeface="Dynapuff Condensed"/>
              </a:rPr>
              <a:t>THANK YOU</a:t>
            </a:r>
          </a:p>
        </p:txBody>
      </p:sp>
      <p:sp>
        <p:nvSpPr>
          <p:cNvPr id="3" name="Freeform 3"/>
          <p:cNvSpPr/>
          <p:nvPr/>
        </p:nvSpPr>
        <p:spPr>
          <a:xfrm>
            <a:off x="-664261" y="6677503"/>
            <a:ext cx="6103108" cy="4114800"/>
          </a:xfrm>
          <a:custGeom>
            <a:avLst/>
            <a:gdLst/>
            <a:ahLst/>
            <a:cxnLst/>
            <a:rect l="l" t="t" r="r" b="b"/>
            <a:pathLst>
              <a:path w="6103108" h="4114800">
                <a:moveTo>
                  <a:pt x="0" y="0"/>
                </a:moveTo>
                <a:lnTo>
                  <a:pt x="6103109" y="0"/>
                </a:lnTo>
                <a:lnTo>
                  <a:pt x="6103109"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2184892" y="-1028700"/>
            <a:ext cx="6103108" cy="4114800"/>
          </a:xfrm>
          <a:custGeom>
            <a:avLst/>
            <a:gdLst/>
            <a:ahLst/>
            <a:cxnLst/>
            <a:rect l="l" t="t" r="r" b="b"/>
            <a:pathLst>
              <a:path w="6103108" h="4114800">
                <a:moveTo>
                  <a:pt x="6103108" y="4114800"/>
                </a:moveTo>
                <a:lnTo>
                  <a:pt x="0" y="4114800"/>
                </a:lnTo>
                <a:lnTo>
                  <a:pt x="0" y="0"/>
                </a:lnTo>
                <a:lnTo>
                  <a:pt x="6103108" y="0"/>
                </a:lnTo>
                <a:lnTo>
                  <a:pt x="6103108" y="41148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4254823" y="-455023"/>
            <a:ext cx="5040401" cy="4114800"/>
          </a:xfrm>
          <a:custGeom>
            <a:avLst/>
            <a:gdLst/>
            <a:ahLst/>
            <a:cxnLst/>
            <a:rect l="l" t="t" r="r" b="b"/>
            <a:pathLst>
              <a:path w="5040401" h="4114800">
                <a:moveTo>
                  <a:pt x="0" y="0"/>
                </a:moveTo>
                <a:lnTo>
                  <a:pt x="5040401" y="0"/>
                </a:lnTo>
                <a:lnTo>
                  <a:pt x="5040401"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a:off x="572605" y="6043612"/>
            <a:ext cx="2369825" cy="2300885"/>
          </a:xfrm>
          <a:custGeom>
            <a:avLst/>
            <a:gdLst/>
            <a:ahLst/>
            <a:cxnLst/>
            <a:rect l="l" t="t" r="r" b="b"/>
            <a:pathLst>
              <a:path w="2369825" h="2300885">
                <a:moveTo>
                  <a:pt x="0" y="0"/>
                </a:moveTo>
                <a:lnTo>
                  <a:pt x="2369825" y="0"/>
                </a:lnTo>
                <a:lnTo>
                  <a:pt x="2369825" y="2300885"/>
                </a:lnTo>
                <a:lnTo>
                  <a:pt x="0" y="230088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7" name="Freeform 7"/>
          <p:cNvSpPr/>
          <p:nvPr/>
        </p:nvSpPr>
        <p:spPr>
          <a:xfrm flipV="1">
            <a:off x="0" y="0"/>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r:embed="rId8">
              <a:extLst>
                <a:ext uri="{96DAC541-7B7A-43D3-8B79-37D633B846F1}">
                  <asvg:svgBlip xmlns:asvg="http://schemas.microsoft.com/office/drawing/2016/SVG/main" r:embed="rId9"/>
                </a:ext>
              </a:extLst>
            </a:blip>
            <a:stretch>
              <a:fillRect/>
            </a:stretch>
          </a:blipFill>
        </p:spPr>
      </p:sp>
      <p:sp>
        <p:nvSpPr>
          <p:cNvPr id="8" name="Freeform 8"/>
          <p:cNvSpPr/>
          <p:nvPr/>
        </p:nvSpPr>
        <p:spPr>
          <a:xfrm flipH="1">
            <a:off x="14173200" y="6287097"/>
            <a:ext cx="4114800" cy="4114800"/>
          </a:xfrm>
          <a:custGeom>
            <a:avLst/>
            <a:gdLst/>
            <a:ahLst/>
            <a:cxnLst/>
            <a:rect l="l" t="t" r="r" b="b"/>
            <a:pathLst>
              <a:path w="4114800" h="4114800">
                <a:moveTo>
                  <a:pt x="4114800" y="0"/>
                </a:moveTo>
                <a:lnTo>
                  <a:pt x="0" y="0"/>
                </a:lnTo>
                <a:lnTo>
                  <a:pt x="0" y="4114800"/>
                </a:lnTo>
                <a:lnTo>
                  <a:pt x="4114800" y="4114800"/>
                </a:lnTo>
                <a:lnTo>
                  <a:pt x="411480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785</Words>
  <Application>Microsoft Office PowerPoint</Application>
  <PresentationFormat>Custom</PresentationFormat>
  <Paragraphs>71</Paragraphs>
  <Slides>12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Dynapuff Condensed Bold</vt:lpstr>
      <vt:lpstr>Open Sans Bold</vt:lpstr>
      <vt:lpstr>Maragsa</vt:lpstr>
      <vt:lpstr>Calibri</vt:lpstr>
      <vt:lpstr>Arial</vt:lpstr>
      <vt:lpstr>Dynapuff Condensed</vt:lpstr>
      <vt:lpstr>Dynapuff SemiCondensed</vt:lpstr>
      <vt:lpstr>Harmattan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project, “Election Result Visualization for Media,” focuses on presenting complex election data through interactive Power BI dashboards. It helps media professionals quickly analyze and compare election results, party performance, and trends across</dc:title>
  <cp:lastModifiedBy>ATUL .</cp:lastModifiedBy>
  <cp:revision>2</cp:revision>
  <dcterms:created xsi:type="dcterms:W3CDTF">2006-08-16T00:00:00Z</dcterms:created>
  <dcterms:modified xsi:type="dcterms:W3CDTF">2025-11-14T13:08:13Z</dcterms:modified>
  <dc:identifier>DAG3SX-lxJU</dc:identifier>
</cp:coreProperties>
</file>